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19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2"/>
  </p:handoutMasterIdLst>
  <p:sldIdLst>
    <p:sldId id="259" r:id="rId4"/>
    <p:sldId id="422" r:id="rId6"/>
    <p:sldId id="437" r:id="rId7"/>
    <p:sldId id="430" r:id="rId8"/>
    <p:sldId id="438" r:id="rId9"/>
    <p:sldId id="417" r:id="rId10"/>
    <p:sldId id="436" r:id="rId11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B2BC9EAE-0157-4357-A676-E51EB847A72D}">
          <p14:sldIdLst>
            <p14:sldId id="259"/>
            <p14:sldId id="422"/>
            <p14:sldId id="437"/>
            <p14:sldId id="430"/>
            <p14:sldId id="438"/>
            <p14:sldId id="417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13B"/>
    <a:srgbClr val="81184B"/>
    <a:srgbClr val="FEFEFE"/>
    <a:srgbClr val="DEE0EC"/>
    <a:srgbClr val="BF2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/>
    <p:restoredTop sz="96106"/>
  </p:normalViewPr>
  <p:slideViewPr>
    <p:cSldViewPr snapToGrid="0" showGuides="1">
      <p:cViewPr varScale="1">
        <p:scale>
          <a:sx n="78" d="100"/>
          <a:sy n="78" d="100"/>
        </p:scale>
        <p:origin x="360" y="72"/>
      </p:cViewPr>
      <p:guideLst>
        <p:guide orient="horz" pos="2243"/>
        <p:guide pos="37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5" Type="http://schemas.openxmlformats.org/officeDocument/2006/relationships/image" Target="../media/image34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0B123-7999-4963-9C28-D9458969A4BD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Thank you for your listening.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jpeg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jpe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jpeg"/><Relationship Id="rId6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299210" y="1061720"/>
            <a:ext cx="8129905" cy="277304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6225" y="1277620"/>
            <a:ext cx="7595870" cy="2620010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1455" y="19050"/>
            <a:ext cx="4086225" cy="1409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35"/>
            <a:ext cx="8915400" cy="3716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CityUHK(DG)_30th_Logo_Horizontal_CMYK_24043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6855" y="52705"/>
            <a:ext cx="3933190" cy="1356995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10" name="图片 9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/>
        </p:nvPicPr>
        <p:blipFill>
          <a:blip r:embed="rId2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3.jpeg"/><Relationship Id="rId15" Type="http://schemas.openxmlformats.org/officeDocument/2006/relationships/tags" Target="../tags/tag14.xml"/><Relationship Id="rId14" Type="http://schemas.openxmlformats.org/officeDocument/2006/relationships/image" Target="../media/image4.png"/><Relationship Id="rId13" Type="http://schemas.openxmlformats.org/officeDocument/2006/relationships/tags" Target="../tags/tag13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>
            <p:custDataLst>
              <p:tags r:id="rId13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rgbClr val="DD61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1" Type="http://schemas.openxmlformats.org/officeDocument/2006/relationships/notesSlide" Target="../notesSlides/notesSlide2.xml"/><Relationship Id="rId20" Type="http://schemas.openxmlformats.org/officeDocument/2006/relationships/vmlDrawing" Target="../drawings/vmlDrawing1.vml"/><Relationship Id="rId2" Type="http://schemas.openxmlformats.org/officeDocument/2006/relationships/image" Target="../media/image9.wmf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19.svg"/><Relationship Id="rId17" Type="http://schemas.openxmlformats.org/officeDocument/2006/relationships/image" Target="../media/image18.png"/><Relationship Id="rId16" Type="http://schemas.openxmlformats.org/officeDocument/2006/relationships/image" Target="../media/image17.svg"/><Relationship Id="rId15" Type="http://schemas.openxmlformats.org/officeDocument/2006/relationships/image" Target="../media/image16.png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2.bin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1.wmf"/><Relationship Id="rId38" Type="http://schemas.openxmlformats.org/officeDocument/2006/relationships/notesSlide" Target="../notesSlides/notesSlide3.xml"/><Relationship Id="rId37" Type="http://schemas.openxmlformats.org/officeDocument/2006/relationships/vmlDrawing" Target="../drawings/vmlDrawing2.vml"/><Relationship Id="rId36" Type="http://schemas.openxmlformats.org/officeDocument/2006/relationships/slideLayout" Target="../slideLayouts/slideLayout13.xml"/><Relationship Id="rId35" Type="http://schemas.openxmlformats.org/officeDocument/2006/relationships/image" Target="../media/image34.wmf"/><Relationship Id="rId34" Type="http://schemas.openxmlformats.org/officeDocument/2006/relationships/oleObject" Target="../embeddings/oleObject27.bin"/><Relationship Id="rId33" Type="http://schemas.openxmlformats.org/officeDocument/2006/relationships/image" Target="../media/image33.wmf"/><Relationship Id="rId32" Type="http://schemas.openxmlformats.org/officeDocument/2006/relationships/oleObject" Target="../embeddings/oleObject26.bin"/><Relationship Id="rId31" Type="http://schemas.openxmlformats.org/officeDocument/2006/relationships/oleObject" Target="../embeddings/oleObject25.bin"/><Relationship Id="rId30" Type="http://schemas.openxmlformats.org/officeDocument/2006/relationships/oleObject" Target="../embeddings/oleObject24.bin"/><Relationship Id="rId3" Type="http://schemas.openxmlformats.org/officeDocument/2006/relationships/oleObject" Target="../embeddings/oleObject9.bin"/><Relationship Id="rId29" Type="http://schemas.openxmlformats.org/officeDocument/2006/relationships/image" Target="../media/image32.wmf"/><Relationship Id="rId28" Type="http://schemas.openxmlformats.org/officeDocument/2006/relationships/oleObject" Target="../embeddings/oleObject23.bin"/><Relationship Id="rId27" Type="http://schemas.openxmlformats.org/officeDocument/2006/relationships/image" Target="../media/image31.wmf"/><Relationship Id="rId26" Type="http://schemas.openxmlformats.org/officeDocument/2006/relationships/oleObject" Target="../embeddings/oleObject22.bin"/><Relationship Id="rId25" Type="http://schemas.openxmlformats.org/officeDocument/2006/relationships/image" Target="../media/image30.wmf"/><Relationship Id="rId24" Type="http://schemas.openxmlformats.org/officeDocument/2006/relationships/oleObject" Target="../embeddings/oleObject21.bin"/><Relationship Id="rId23" Type="http://schemas.openxmlformats.org/officeDocument/2006/relationships/image" Target="../media/image29.wmf"/><Relationship Id="rId22" Type="http://schemas.openxmlformats.org/officeDocument/2006/relationships/oleObject" Target="../embeddings/oleObject20.bin"/><Relationship Id="rId21" Type="http://schemas.openxmlformats.org/officeDocument/2006/relationships/image" Target="../media/image28.wmf"/><Relationship Id="rId20" Type="http://schemas.openxmlformats.org/officeDocument/2006/relationships/oleObject" Target="../embeddings/oleObject19.bin"/><Relationship Id="rId2" Type="http://schemas.openxmlformats.org/officeDocument/2006/relationships/image" Target="../media/image20.wmf"/><Relationship Id="rId19" Type="http://schemas.openxmlformats.org/officeDocument/2006/relationships/image" Target="../media/image27.wmf"/><Relationship Id="rId18" Type="http://schemas.openxmlformats.org/officeDocument/2006/relationships/oleObject" Target="../embeddings/oleObject18.bin"/><Relationship Id="rId17" Type="http://schemas.openxmlformats.org/officeDocument/2006/relationships/image" Target="../media/image26.wmf"/><Relationship Id="rId16" Type="http://schemas.openxmlformats.org/officeDocument/2006/relationships/oleObject" Target="../embeddings/oleObject17.bin"/><Relationship Id="rId15" Type="http://schemas.openxmlformats.org/officeDocument/2006/relationships/image" Target="../media/image25.wmf"/><Relationship Id="rId14" Type="http://schemas.openxmlformats.org/officeDocument/2006/relationships/oleObject" Target="../embeddings/oleObject16.bin"/><Relationship Id="rId13" Type="http://schemas.openxmlformats.org/officeDocument/2006/relationships/image" Target="../media/image24.wmf"/><Relationship Id="rId12" Type="http://schemas.openxmlformats.org/officeDocument/2006/relationships/oleObject" Target="../embeddings/oleObject15.bin"/><Relationship Id="rId11" Type="http://schemas.openxmlformats.org/officeDocument/2006/relationships/image" Target="../media/image23.wmf"/><Relationship Id="rId10" Type="http://schemas.openxmlformats.org/officeDocument/2006/relationships/oleObject" Target="../embeddings/oleObject14.bin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1280795"/>
            <a:ext cx="9336405" cy="194056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solidFill>
                  <a:srgbClr val="DD613B"/>
                </a:solidFill>
                <a:latin typeface="Times New Roman Regular" panose="02020503050405090304" charset="0"/>
                <a:ea typeface="Kaiti TC" panose="02010600040101010101" pitchFamily="2" charset="-120"/>
                <a:cs typeface="Times New Roman Regular" panose="02020503050405090304" charset="0"/>
              </a:rPr>
              <a:t>Extracting distance and arrival of angle information from CSI using DL methods</a:t>
            </a:r>
            <a:endParaRPr lang="en-US" altLang="zh-CN" sz="4400" dirty="0">
              <a:solidFill>
                <a:srgbClr val="DD613B"/>
              </a:solidFill>
              <a:latin typeface="Times New Roman Regular" panose="02020503050405090304" charset="0"/>
              <a:ea typeface="Kaiti TC" panose="02010600040101010101" pitchFamily="2" charset="-12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System Model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665" y="159829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LOS(Line of Sight):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3550" y="2118360"/>
          <a:ext cx="1908175" cy="72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30300" imgH="431800" progId="Equation.KSEE3">
                  <p:embed/>
                </p:oleObj>
              </mc:Choice>
              <mc:Fallback>
                <p:oleObj name="" r:id="rId1" imgW="11303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3550" y="2118360"/>
                        <a:ext cx="1908175" cy="728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3550" y="2883535"/>
          <a:ext cx="455295" cy="33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79400" imgH="203200" progId="Equation.KSEE3">
                  <p:embed/>
                </p:oleObj>
              </mc:Choice>
              <mc:Fallback>
                <p:oleObj name="" r:id="rId3" imgW="2794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3550" y="2883535"/>
                        <a:ext cx="455295" cy="331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44575" y="2846705"/>
            <a:ext cx="20320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transmitted signal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3550" y="3366770"/>
          <a:ext cx="3460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5" imgW="152400" imgH="139700" progId="Equation.KSEE3">
                  <p:embed/>
                </p:oleObj>
              </mc:Choice>
              <mc:Fallback>
                <p:oleObj name="" r:id="rId5" imgW="152400" imgH="1397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3550" y="3366770"/>
                        <a:ext cx="346075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44575" y="3315970"/>
            <a:ext cx="270700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symbol to be transmitted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4575" y="3785235"/>
            <a:ext cx="24371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frequency of subcarrier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4820" y="3785235"/>
          <a:ext cx="344805" cy="45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7" imgW="152400" imgH="203200" progId="Equation.KSEE3">
                  <p:embed/>
                </p:oleObj>
              </mc:Choice>
              <mc:Fallback>
                <p:oleObj name="" r:id="rId7" imgW="152400" imgH="203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820" y="3785235"/>
                        <a:ext cx="344805" cy="459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0545" y="4294505"/>
          <a:ext cx="231775" cy="433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9" imgW="88265" imgH="165100" progId="Equation.KSEE3">
                  <p:embed/>
                </p:oleObj>
              </mc:Choice>
              <mc:Fallback>
                <p:oleObj name="" r:id="rId9" imgW="88265" imgH="1651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0545" y="4294505"/>
                        <a:ext cx="231775" cy="433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44575" y="4301490"/>
            <a:ext cx="24371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index of subcarrier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3240" y="4815205"/>
          <a:ext cx="259080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11" imgW="127000" imgH="139700" progId="Equation.KSEE3">
                  <p:embed/>
                </p:oleObj>
              </mc:Choice>
              <mc:Fallback>
                <p:oleObj name="" r:id="rId11" imgW="127000" imgH="1397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3240" y="4815205"/>
                        <a:ext cx="259080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044575" y="4723765"/>
            <a:ext cx="24371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time delay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13" imgW="114300" imgH="215900" progId="Equation.KSEE3">
                  <p:embed/>
                </p:oleObj>
              </mc:Choice>
              <mc:Fallback>
                <p:oleObj name="" r:id="rId13" imgW="114300" imgH="2159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367665" y="5452660"/>
            <a:ext cx="4064000" cy="92202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For the same subcarrier, phase and amplitude decreases when distance increases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 descr="amp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38800" y="690245"/>
            <a:ext cx="5757545" cy="2846705"/>
          </a:xfrm>
          <a:prstGeom prst="rect">
            <a:avLst/>
          </a:prstGeom>
        </p:spPr>
      </p:pic>
      <p:pic>
        <p:nvPicPr>
          <p:cNvPr id="9" name="图片 8" descr="phase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38800" y="3535045"/>
            <a:ext cx="5757545" cy="2839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System Model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1" name="等腰三角形 20"/>
          <p:cNvSpPr/>
          <p:nvPr/>
        </p:nvSpPr>
        <p:spPr>
          <a:xfrm rot="10800000">
            <a:off x="9729931" y="282575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9852486" y="299974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等腰三角形 23"/>
          <p:cNvSpPr/>
          <p:nvPr/>
        </p:nvSpPr>
        <p:spPr>
          <a:xfrm rot="10800000">
            <a:off x="11156776" y="282575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11279966" y="299974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等腰三角形 25"/>
          <p:cNvSpPr/>
          <p:nvPr/>
        </p:nvSpPr>
        <p:spPr>
          <a:xfrm rot="10800000">
            <a:off x="9729931" y="409892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9852486" y="427291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 rot="10800000">
            <a:off x="11161221" y="409892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11284411" y="427291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9852486" y="212344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11279966" y="2369185"/>
            <a:ext cx="527050" cy="456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9852486" y="3546475"/>
            <a:ext cx="664845" cy="552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93441" y="376174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27000" imgH="177165" progId="Equation.KSEE3">
                  <p:embed/>
                </p:oleObj>
              </mc:Choice>
              <mc:Fallback>
                <p:oleObj name="" r:id="rId1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93441" y="376174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/>
          <p:cNvCxnSpPr/>
          <p:nvPr/>
        </p:nvCxnSpPr>
        <p:spPr>
          <a:xfrm>
            <a:off x="10660841" y="2123440"/>
            <a:ext cx="634365" cy="695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64626" y="281940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39700" imgH="177165" progId="Equation.KSEE3">
                  <p:embed/>
                </p:oleObj>
              </mc:Choice>
              <mc:Fallback>
                <p:oleObj name="" r:id="rId3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64626" y="281940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62771" y="252222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5" imgW="127000" imgH="177165" progId="Equation.KSEE3">
                  <p:embed/>
                </p:oleObj>
              </mc:Choice>
              <mc:Fallback>
                <p:oleObj name="" r:id="rId5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62771" y="252222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94676" y="338582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6" imgW="139700" imgH="177165" progId="Equation.KSEE3">
                  <p:embed/>
                </p:oleObj>
              </mc:Choice>
              <mc:Fallback>
                <p:oleObj name="" r:id="rId6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94676" y="338582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连接符 39"/>
          <p:cNvCxnSpPr/>
          <p:nvPr/>
        </p:nvCxnSpPr>
        <p:spPr>
          <a:xfrm>
            <a:off x="9852486" y="2844165"/>
            <a:ext cx="664845" cy="732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053781" y="2026920"/>
          <a:ext cx="41656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7" imgW="254000" imgH="215900" progId="Equation.KSEE3">
                  <p:embed/>
                </p:oleObj>
              </mc:Choice>
              <mc:Fallback>
                <p:oleObj name="" r:id="rId7" imgW="254000" imgH="2159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53781" y="2026920"/>
                        <a:ext cx="41656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62646" y="363093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9" imgW="127000" imgH="177165" progId="Equation.KSEE3">
                  <p:embed/>
                </p:oleObj>
              </mc:Choice>
              <mc:Fallback>
                <p:oleObj name="" r:id="rId9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62646" y="363093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087436" y="3833495"/>
          <a:ext cx="445770" cy="36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10" imgW="266700" imgH="215900" progId="Equation.KSEE3">
                  <p:embed/>
                </p:oleObj>
              </mc:Choice>
              <mc:Fallback>
                <p:oleObj name="" r:id="rId10" imgW="2667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87436" y="3833495"/>
                        <a:ext cx="445770" cy="360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箭头连接符 44"/>
          <p:cNvCxnSpPr/>
          <p:nvPr/>
        </p:nvCxnSpPr>
        <p:spPr>
          <a:xfrm flipH="1">
            <a:off x="9842326" y="2021205"/>
            <a:ext cx="20955" cy="302006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9035876" y="2819400"/>
            <a:ext cx="3150235" cy="120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24191" y="4658360"/>
          <a:ext cx="205740" cy="22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2" imgW="127000" imgH="139700" progId="Equation.KSEE3">
                  <p:embed/>
                </p:oleObj>
              </mc:Choice>
              <mc:Fallback>
                <p:oleObj name="" r:id="rId12" imgW="127000" imgH="1397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24191" y="4658360"/>
                        <a:ext cx="205740" cy="22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888296" y="2870200"/>
          <a:ext cx="207645" cy="245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14" imgW="139700" imgH="165100" progId="Equation.KSEE3">
                  <p:embed/>
                </p:oleObj>
              </mc:Choice>
              <mc:Fallback>
                <p:oleObj name="" r:id="rId14" imgW="139700" imgH="1651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888296" y="2870200"/>
                        <a:ext cx="207645" cy="245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5576" y="2882900"/>
          <a:ext cx="55435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16" imgW="431800" imgH="203200" progId="Equation.KSEE3">
                  <p:embed/>
                </p:oleObj>
              </mc:Choice>
              <mc:Fallback>
                <p:oleObj name="" r:id="rId16" imgW="4318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175576" y="2882900"/>
                        <a:ext cx="55435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312986" y="2927985"/>
          <a:ext cx="58864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18" imgW="457200" imgH="203200" progId="Equation.KSEE3">
                  <p:embed/>
                </p:oleObj>
              </mc:Choice>
              <mc:Fallback>
                <p:oleObj name="" r:id="rId18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312986" y="2927985"/>
                        <a:ext cx="58864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389821" y="4272915"/>
          <a:ext cx="58864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" r:id="rId20" imgW="457200" imgH="203200" progId="Equation.KSEE3">
                  <p:embed/>
                </p:oleObj>
              </mc:Choice>
              <mc:Fallback>
                <p:oleObj name="" r:id="rId20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389821" y="4272915"/>
                        <a:ext cx="58864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66686" y="4272915"/>
          <a:ext cx="57213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" r:id="rId22" imgW="444500" imgH="203200" progId="Equation.KSEE3">
                  <p:embed/>
                </p:oleObj>
              </mc:Choice>
              <mc:Fallback>
                <p:oleObj name="" r:id="rId22" imgW="4445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166686" y="4272915"/>
                        <a:ext cx="57213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等腰三角形 55"/>
          <p:cNvSpPr/>
          <p:nvPr/>
        </p:nvSpPr>
        <p:spPr>
          <a:xfrm rot="10800000">
            <a:off x="4670251" y="427037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 flipV="1">
            <a:off x="4793441" y="444436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8" name="对象 5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14726" y="4444365"/>
          <a:ext cx="55689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" r:id="rId24" imgW="431800" imgH="203200" progId="Equation.KSEE3">
                  <p:embed/>
                </p:oleObj>
              </mc:Choice>
              <mc:Fallback>
                <p:oleObj name="" r:id="rId24" imgW="4318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914726" y="4444365"/>
                        <a:ext cx="55689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等腰三角形 59"/>
          <p:cNvSpPr/>
          <p:nvPr/>
        </p:nvSpPr>
        <p:spPr>
          <a:xfrm rot="10800000">
            <a:off x="5759276" y="427990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 flipV="1">
            <a:off x="5882466" y="445389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87241" y="4453890"/>
          <a:ext cx="58991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26" imgW="457200" imgH="203200" progId="Equation.KSEE3">
                  <p:embed/>
                </p:oleObj>
              </mc:Choice>
              <mc:Fallback>
                <p:oleObj name="" r:id="rId26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987241" y="4453890"/>
                        <a:ext cx="58991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等腰三角形 63"/>
          <p:cNvSpPr/>
          <p:nvPr/>
        </p:nvSpPr>
        <p:spPr>
          <a:xfrm rot="10800000">
            <a:off x="6742256" y="427037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连接符 64"/>
          <p:cNvCxnSpPr/>
          <p:nvPr/>
        </p:nvCxnSpPr>
        <p:spPr>
          <a:xfrm flipV="1">
            <a:off x="6865446" y="444436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88001" y="4444365"/>
          <a:ext cx="57340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" r:id="rId28" imgW="444500" imgH="203200" progId="Equation.KSEE3">
                  <p:embed/>
                </p:oleObj>
              </mc:Choice>
              <mc:Fallback>
                <p:oleObj name="" r:id="rId28" imgW="4445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88001" y="4444365"/>
                        <a:ext cx="57340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" name="直接箭头连接符 67"/>
          <p:cNvCxnSpPr/>
          <p:nvPr/>
        </p:nvCxnSpPr>
        <p:spPr>
          <a:xfrm flipH="1">
            <a:off x="4789631" y="358394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H="1">
            <a:off x="5882466" y="357759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>
            <a:off x="6865446" y="3568065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V="1">
            <a:off x="4308936" y="4276090"/>
            <a:ext cx="3459480" cy="1016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4789631" y="3508375"/>
            <a:ext cx="3810" cy="16071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5878656" y="3508375"/>
            <a:ext cx="3810" cy="160718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6867986" y="3508375"/>
            <a:ext cx="1270" cy="159702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5" name="对象 7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14081" y="231394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" r:id="rId30" imgW="127000" imgH="177165" progId="Equation.KSEE3">
                  <p:embed/>
                </p:oleObj>
              </mc:Choice>
              <mc:Fallback>
                <p:oleObj name="" r:id="rId30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14081" y="231394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" name="直接连接符 76"/>
          <p:cNvCxnSpPr/>
          <p:nvPr/>
        </p:nvCxnSpPr>
        <p:spPr>
          <a:xfrm flipH="1" flipV="1">
            <a:off x="5444951" y="3733800"/>
            <a:ext cx="429895" cy="5422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8" name="对象 7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13811" y="395859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" r:id="rId31" imgW="139700" imgH="177165" progId="Equation.KSEE3">
                  <p:embed/>
                </p:oleObj>
              </mc:Choice>
              <mc:Fallback>
                <p:oleObj name="" r:id="rId31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13811" y="395859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/>
          <p:cNvSpPr txBox="1"/>
          <p:nvPr/>
        </p:nvSpPr>
        <p:spPr>
          <a:xfrm>
            <a:off x="4479290" y="5191125"/>
            <a:ext cx="311848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(a) ULAs Layout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067165" y="5191125"/>
            <a:ext cx="311848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(b) Rectangular Layout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2" name="等腰三角形 81"/>
          <p:cNvSpPr/>
          <p:nvPr/>
        </p:nvSpPr>
        <p:spPr>
          <a:xfrm rot="10800000">
            <a:off x="4668981" y="193040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3" name="直接连接符 82"/>
          <p:cNvCxnSpPr/>
          <p:nvPr/>
        </p:nvCxnSpPr>
        <p:spPr>
          <a:xfrm flipV="1">
            <a:off x="4792171" y="210439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162550" y="193040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Rx antenna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 flipV="1">
            <a:off x="4536095" y="2717800"/>
            <a:ext cx="48260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162550" y="2463165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Signal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87" name="直接连接符 86"/>
          <p:cNvCxnSpPr/>
          <p:nvPr/>
        </p:nvCxnSpPr>
        <p:spPr>
          <a:xfrm flipH="1">
            <a:off x="6756055" y="2475230"/>
            <a:ext cx="1905" cy="347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6868795" y="245745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Normal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6612081" y="2097405"/>
            <a:ext cx="30480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6864985" y="193040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A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rray axis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99720" y="2008420"/>
            <a:ext cx="4064000" cy="175323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ULAs  can’t distinguish       and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Retangular Layout encode phase difference by using cos and sin, so angle ambiguous problem can be solved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92" name="对象 9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61640" y="2097405"/>
          <a:ext cx="178435" cy="24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" r:id="rId32" imgW="127000" imgH="177165" progId="Equation.KSEE3">
                  <p:embed/>
                </p:oleObj>
              </mc:Choice>
              <mc:Fallback>
                <p:oleObj name="" r:id="rId32" imgW="127000" imgH="177165" progId="Equation.KSEE3">
                  <p:embed/>
                  <p:pic>
                    <p:nvPicPr>
                      <p:cNvPr id="0" name="图片 103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961640" y="2097405"/>
                        <a:ext cx="178435" cy="248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9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7765" y="2097405"/>
          <a:ext cx="65595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" r:id="rId34" imgW="545465" imgH="203200" progId="Equation.KSEE3">
                  <p:embed/>
                </p:oleObj>
              </mc:Choice>
              <mc:Fallback>
                <p:oleObj name="" r:id="rId34" imgW="545465" imgH="203200" progId="Equation.KSEE3">
                  <p:embed/>
                  <p:pic>
                    <p:nvPicPr>
                      <p:cNvPr id="0" name="图片 1032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707765" y="2097405"/>
                        <a:ext cx="655955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System Model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9720" y="153217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Framework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Data Generation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9720" y="2090970"/>
            <a:ext cx="4064000" cy="230695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Traing data: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distance interval: 2m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 interval: 15</a:t>
            </a:r>
            <a:r>
              <a:rPr lang="zh-CN" altLang="en-US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lvl="0" indent="-285750" algn="l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esting data: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Distance interval: 1m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 interval: 10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040" y="1598295"/>
            <a:ext cx="7254240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507365" y="51562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Results</a:t>
            </a:r>
            <a:endParaRPr lang="en-US" sz="4000" dirty="0" err="1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pic>
        <p:nvPicPr>
          <p:cNvPr id="4" name="图片 3" descr="csi_angle_histogram20MHz_tes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4470" y="3700780"/>
            <a:ext cx="4524375" cy="2571750"/>
          </a:xfrm>
          <a:prstGeom prst="rect">
            <a:avLst/>
          </a:prstGeom>
        </p:spPr>
      </p:pic>
      <p:pic>
        <p:nvPicPr>
          <p:cNvPr id="5" name="图片 4" descr="csi_angle_results_20MHz_tes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715" y="1187450"/>
            <a:ext cx="4509135" cy="2513330"/>
          </a:xfrm>
          <a:prstGeom prst="rect">
            <a:avLst/>
          </a:prstGeom>
        </p:spPr>
      </p:pic>
      <p:pic>
        <p:nvPicPr>
          <p:cNvPr id="8" name="图片 7" descr="csi_dist_results_20MHz_tes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265" y="1187450"/>
            <a:ext cx="4284345" cy="2434590"/>
          </a:xfrm>
          <a:prstGeom prst="rect">
            <a:avLst/>
          </a:prstGeom>
        </p:spPr>
      </p:pic>
      <p:pic>
        <p:nvPicPr>
          <p:cNvPr id="9" name="图片 8" descr="csi_dist_histogram20MHz_test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955" y="3700780"/>
            <a:ext cx="4661535" cy="2649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2334260" y="2143760"/>
            <a:ext cx="7523480" cy="9175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Thank you for listening</a:t>
            </a:r>
            <a:r>
              <a:rPr lang="zh-CN" altLang="en-US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！</a:t>
            </a:r>
            <a:endParaRPr lang="en-US" altLang="zh-CN" sz="5400" b="1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versionID="52650795bb867722c1cb32d5c9c9a2c6" ma:contentTypeID="0x01010045BC218961C25F459F6AA21946FFBB51" ma:contentTypeDescription="Create a new document." ct:_="" ma:_="" ma:contentTypeScope="" ma:contentTypeName="Document" ma:contentTypeVersion="14">
  <xsd:schema xmlns:xs="http://www.w3.org/2001/XMLSchema" xmlns:ns2="f89c64e8-111c-41f4-bded-6f6d958fe4b3" xmlns:ns3="9dd57d78-cec9-4cdd-9551-44c1fb237173" xmlns:xsd="http://www.w3.org/2001/XMLSchema" xmlns:p="http://schemas.microsoft.com/office/2006/metadata/properties" ma:root="true" ns3:_="" ma:fieldsID="56ffb0fdb1f4cdcf98c4b90ef3fdf45d" ns2:_="" targetNamespace="http://schemas.microsoft.com/office/2006/metadata/properties">
    <xsd:import namespace="f89c64e8-111c-41f4-bded-6f6d958fe4b3"/>
    <xsd:import namespace="9dd57d78-cec9-4cdd-9551-44c1fb237173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DateTaken"/>
                <xsd:element minOccurs="0" ref="ns2:MediaServiceAutoTags"/>
                <xsd:element minOccurs="0" ref="ns2:MediaServiceGenerationTime"/>
                <xsd:element minOccurs="0" ref="ns2:MediaServiceEventHashCode"/>
                <xsd:element minOccurs="0" ref="ns2:MediaServiceOCR"/>
                <xsd:element minOccurs="0" ref="ns2:MediaLengthInSeconds"/>
                <xsd:element minOccurs="0" ref="ns2:MediaServiceAutoKeyPoints"/>
                <xsd:element minOccurs="0" ref="ns2:MediaServiceKeyPoints"/>
                <xsd:element minOccurs="0" ref="ns2:lcf76f155ced4ddcb4097134ff3c332f"/>
                <xsd:element minOccurs="0" ref="ns3:TaxCatchAll"/>
                <xsd:element minOccurs="0" ref="ns2:MediaServiceLocation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f89c64e8-111c-41f4-bded-6f6d958fe4b3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readOnly="true" ma:internalName="MediaServiceMetadata" name="MediaServiceMetadata" nillable="true" ma:hidden="true" ma:index="8">
      <xsd:simpleType>
        <xsd:restriction base="dms:Note"/>
      </xsd:simpleType>
    </xsd:element>
    <xsd:element ma:displayName="MediaServiceFastMetadata" ma:readOnly="true" ma:internalName="MediaServiceFastMetadata" name="MediaServiceFastMetadata" nillable="true" ma:hidden="true" ma:index="9">
      <xsd:simpleType>
        <xsd:restriction base="dms:Note"/>
      </xsd:simpleType>
    </xsd:element>
    <xsd:element ma:displayName="MediaServiceDateTaken" ma:readOnly="true" ma:internalName="MediaServiceDateTaken" name="MediaServiceDateTaken" nillable="true" ma:hidden="true" ma:index="10">
      <xsd:simpleType>
        <xsd:restriction base="dms:Text"/>
      </xsd:simpleType>
    </xsd:element>
    <xsd:element ma:displayName="Tags" ma:readOnly="true" ma:internalName="MediaServiceAutoTags" name="MediaServiceAutoTags" nillable="true" ma:index="11">
      <xsd:simpleType>
        <xsd:restriction base="dms:Text"/>
      </xsd:simpleType>
    </xsd:element>
    <xsd:element ma:displayName="MediaServiceGenerationTime" ma:readOnly="true" ma:internalName="MediaServiceGenerationTime" name="MediaServiceGenerationTime" nillable="true" ma:hidden="true" ma:index="12">
      <xsd:simpleType>
        <xsd:restriction base="dms:Text"/>
      </xsd:simpleType>
    </xsd:element>
    <xsd:element ma:displayName="MediaServiceEventHashCode" ma:readOnly="true" ma:internalName="MediaServiceEventHashCode" name="MediaServiceEventHashCode" nillable="true" ma:hidden="true" ma:index="13">
      <xsd:simpleType>
        <xsd:restriction base="dms:Text"/>
      </xsd:simpleType>
    </xsd:element>
    <xsd:element ma:displayName="Extracted Text" ma:readOnly="true" ma:internalName="MediaServiceOCR" name="MediaServiceOCR" nillable="true" ma:index="14">
      <xsd:simpleType>
        <xsd:restriction base="dms:Note">
          <xsd:maxLength value="255"/>
        </xsd:restriction>
      </xsd:simpleType>
    </xsd:element>
    <xsd:element ma:displayName="MediaLengthInSeconds" ma:readOnly="true" ma:internalName="MediaLengthInSeconds" name="MediaLengthInSeconds" nillable="true" ma:hidden="true" ma:index="15">
      <xsd:simpleType>
        <xsd:restriction base="dms:Unknown"/>
      </xsd:simpleType>
    </xsd:element>
    <xsd:element ma:displayName="MediaServiceAutoKeyPoints" ma:readOnly="true" ma:internalName="MediaServiceAutoKeyPoints" name="MediaServiceAutoKeyPoints" nillable="true" ma:hidden="true" ma:index="16">
      <xsd:simpleType>
        <xsd:restriction base="dms:Note"/>
      </xsd:simpleType>
    </xsd:element>
    <xsd:element ma:displayName="KeyPoints" ma:readOnly="true" ma:internalName="MediaServiceKeyPoints" name="MediaServiceKeyPoints" nillable="true" ma:index="17">
      <xsd:simpleType>
        <xsd:restriction base="dms:Note">
          <xsd:maxLength value="255"/>
        </xsd:restriction>
      </xsd:simpleType>
    </xsd:element>
    <xsd:element ma:fieldId="{5cf76f15-5ced-4ddc-b409-7134ff3c332f}" ma:taxonomyFieldName="MediaServiceImageTags" ma:anchorId="fba54fb3-c3e1-fe81-a776-ca4b69148c4d" ma:displayName="Image Tags" ma:readOnly="false" ma:isKeyword="false" ma:internalName="lcf76f155ced4ddcb4097134ff3c332f" name="lcf76f155ced4ddcb4097134ff3c332f" ma:taxonomyMulti="true" ma:taxonomy="true" ma:termSetId="09814cd3-568e-fe90-9814-8d621ff8fb84" nillable="true" ma:sspId="e0ba400c-d543-4c24-b70c-40427e126fd3" ma:open="true" ma:index="19">
      <xsd:complexType>
        <xsd:sequence>
          <xsd:element minOccurs="0" ref="pc:Terms" maxOccurs="1"/>
        </xsd:sequence>
      </xsd:complexType>
    </xsd:element>
    <xsd:element ma:displayName="Location" ma:readOnly="true" ma:internalName="MediaServiceLocation" name="MediaServiceLocation" nillable="true" ma:index="21">
      <xsd:simpleType>
        <xsd:restriction base="dms:Text"/>
      </xsd:simple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9dd57d78-cec9-4cdd-9551-44c1fb237173" elementFormDefault="qualified">
    <xsd:import namespace="http://schemas.microsoft.com/office/2006/documentManagement/types"/>
    <xsd:import namespace="http://schemas.microsoft.com/office/infopath/2007/PartnerControls"/>
    <xsd:element ma:showField="CatchAllData" ma:displayName="Taxonomy Catch All Column" ma:internalName="TaxCatchAll" name="TaxCatchAll" ma:web="9dd57d78-cec9-4cdd-9551-44c1fb237173" nillable="true" ma:hidden="true" ma:list="{92a9e3ce-7aaf-4768-9995-86e3f1f98a48}" ma:index="20">
      <xsd:complexType>
        <xsd:complexContent>
          <xsd:extension base="dms:MultiChoiceLookup">
            <xsd:sequence>
              <xsd:element type="dms:Lookup" minOccurs="0" name="Value" nillable="true" maxOccurs="unbounded"/>
            </xsd:sequence>
          </xsd:extension>
        </xsd:complexContent>
      </xsd:complexType>
    </xsd:element>
  </xsd:schema>
  <xsd:schema xmlns:xsi="http://www.w3.org/2001/XMLSchema-instance" xmlns:dcterms="http://purl.org/dc/terms/" xmlns:odoc="http://schemas.microsoft.com/internal/obd" xmlns="http://schemas.openxmlformats.org/package/2006/metadata/core-properties" xmlns:xsd="http://www.w3.org/2001/XMLSchema" xmlns:dc="http://purl.org/dc/elements/1.1/" attributeFormDefault="unqualified" blockDefault="#all" targetNamespace="http://schemas.openxmlformats.org/package/2006/metadata/core-properties" elementFormDefault="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type="xsd:string" minOccurs="0" ma:displayName="Content Type" name="contentType" ma:index="0" maxOccurs="1"/>
        <xsd:element minOccurs="0" ref="dc:title" ma:displayName="Title" ma:index="4" maxOccurs="1"/>
        <xsd:element minOccurs="0" ref="dc:subject" maxOccurs="1"/>
        <xsd:element minOccurs="0" ref="dc:description" maxOccurs="1"/>
        <xsd:element type="xsd:string" minOccurs="0" name="keywords" maxOccurs="1"/>
        <xsd:element minOccurs="0" ref="dc:language" maxOccurs="1"/>
        <xsd:element type="xsd:string" minOccurs="0" name="category" maxOccurs="1"/>
        <xsd:element type="xsd:string" minOccurs="0" name="version" maxOccurs="1"/>
        <xsd:element type="xsd:string" minOccurs="0" name="revision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inOccurs="0" name="lastModifiedBy" maxOccurs="1"/>
        <xsd:element minOccurs="0" ref="dcterms:modified" maxOccurs="1"/>
        <xsd:element type="xsd:string" minOccurs="0" name="contentStatus" maxOccurs="1"/>
      </xsd:all>
    </xsd:complexType>
  </xsd:schema>
  <xs:schema xmlns:xs="http://www.w3.org/2001/XMLSchema" xmlns:pc="http://schemas.microsoft.com/office/infopath/2007/PartnerControls" attributeFormDefault="unqualified" targetNamespace="http://schemas.microsoft.com/office/infopath/2007/PartnerControls" elementFormDefault="qualified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xsi="http://www.w3.org/2001/XMLSchema-instance" xmlns:pc="http://schemas.microsoft.com/office/infopath/2007/PartnerControls" xmlns:p="http://schemas.microsoft.com/office/2006/metadata/properties">
  <documentManagement>
    <MediaLengthInSeconds xmlns="f89c64e8-111c-41f4-bded-6f6d958fe4b3" xsi:nil="true"/>
    <lcf76f155ced4ddcb4097134ff3c332f xmlns="f89c64e8-111c-41f4-bded-6f6d958fe4b3">
      <Terms xmlns="http://schemas.microsoft.com/office/infopath/2007/PartnerControls"/>
    </lcf76f155ced4ddcb4097134ff3c332f>
    <TaxCatchAll xmlns="9dd57d78-cec9-4cdd-9551-44c1fb2371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5.xml><?xml version="1.0" encoding="utf-8"?>
<ds:datastoreItem xmlns:ds="http://schemas.openxmlformats.org/officeDocument/2006/customXml" ds:itemID="{FAF196E8-F5B0-48C6-818B-9DED3B3F4B9F}">
  <ds:schemaRefs/>
</ds:datastoreItem>
</file>

<file path=customXml/itemProps16.xml><?xml version="1.0" encoding="utf-8"?>
<ds:datastoreItem xmlns:ds="http://schemas.openxmlformats.org/officeDocument/2006/customXml" ds:itemID="{5A95CB02-FDAC-45C3-9CB4-7E4403C86BD8}">
  <ds:schemaRefs/>
</ds:datastoreItem>
</file>

<file path=customXml/itemProps17.xml><?xml version="1.0" encoding="utf-8"?>
<ds:datastoreItem xmlns:ds="http://schemas.openxmlformats.org/officeDocument/2006/customXml" ds:itemID="{8B561345-5481-4888-8BC1-875739BC27F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WPS 演示</Application>
  <PresentationFormat>Breitbild</PresentationFormat>
  <Paragraphs>55</Paragraphs>
  <Slides>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27</vt:i4>
      </vt:variant>
      <vt:variant>
        <vt:lpstr>幻灯片标题</vt:lpstr>
      </vt:variant>
      <vt:variant>
        <vt:i4>7</vt:i4>
      </vt:variant>
    </vt:vector>
  </HeadingPairs>
  <TitlesOfParts>
    <vt:vector size="57" baseType="lpstr">
      <vt:lpstr>Arial</vt:lpstr>
      <vt:lpstr>宋体</vt:lpstr>
      <vt:lpstr>Wingdings</vt:lpstr>
      <vt:lpstr>Times New Roman Regular</vt:lpstr>
      <vt:lpstr>Times New Roman</vt:lpstr>
      <vt:lpstr>Kaiti TC</vt:lpstr>
      <vt:lpstr>Microsoft JhengHei UI</vt:lpstr>
      <vt:lpstr>微软雅黑</vt:lpstr>
      <vt:lpstr>Wingdings</vt:lpstr>
      <vt:lpstr>NimbusRomNo9L-Medi</vt:lpstr>
      <vt:lpstr>Segoe Print</vt:lpstr>
      <vt:lpstr>Calibri</vt:lpstr>
      <vt:lpstr>Arial Unicode MS</vt:lpstr>
      <vt:lpstr>等线</vt:lpstr>
      <vt:lpstr>Calibri Light</vt:lpstr>
      <vt:lpstr>等线 Light</vt:lpstr>
      <vt:lpstr>PMingLiU</vt:lpstr>
      <vt:lpstr>Kaiti TC</vt:lpstr>
      <vt:lpstr>NimbusRomNo9L-Medi</vt:lpstr>
      <vt:lpstr>DFHSMincho-W9</vt:lpstr>
      <vt:lpstr>Cambria Math</vt:lpstr>
      <vt:lpstr>自定义设计方案</vt:lpstr>
      <vt:lpstr>Office Theme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Extracting distance and arrival of angle information from CSI using DL methods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Raven Xiao (HRO)</dc:creator>
  <cp:lastModifiedBy>あ</cp:lastModifiedBy>
  <cp:revision>1085</cp:revision>
  <cp:lastPrinted>2026-05-22T04:58:00Z</cp:lastPrinted>
  <dcterms:created xsi:type="dcterms:W3CDTF">2026-05-22T04:58:00Z</dcterms:created>
  <dcterms:modified xsi:type="dcterms:W3CDTF">2026-07-02T18:06:30Z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0x01010045BC218961C25F459F6AA21946FFBB51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  <property fmtid="{D5CDD505-2E9C-101B-9397-08002B2CF9AE}" pid="7" name="ICV">
    <vt:lpwstr>DCA317B43A184A09A4AA517C6D7CD56E_13</vt:lpwstr>
  </property>
  <property fmtid="{D5CDD505-2E9C-101B-9397-08002B2CF9AE}" pid="8" name="KSOProductBuildVer">
    <vt:lpwstr>2052-12.1.0.26895</vt:lpwstr>
  </property>
</Properties>
</file>