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5.svg" ContentType="image/svg+xml"/>
  <Override PartName="/ppt/media/image25.svg" ContentType="image/svg+xml"/>
  <Override PartName="/ppt/media/image2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handoutMasterIdLst>
    <p:handoutMasterId r:id="rId11"/>
  </p:handoutMasterIdLst>
  <p:sldIdLst>
    <p:sldId id="259" r:id="rId4"/>
    <p:sldId id="437" r:id="rId6"/>
    <p:sldId id="430" r:id="rId7"/>
    <p:sldId id="438" r:id="rId8"/>
    <p:sldId id="417" r:id="rId9"/>
    <p:sldId id="436" r:id="rId10"/>
  </p:sldIdLst>
  <p:sldSz cx="12192000" cy="6858000"/>
  <p:notesSz cx="6858000" cy="9144000"/>
  <p:custDataLst>
    <p:tags r:id="rId18"/>
  </p:custDataLst>
  <p:defaultTextStyle>
    <a:defPPr>
      <a:defRPr lang="zh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" id="{B2BC9EAE-0157-4357-A676-E51EB847A72D}">
          <p14:sldIdLst>
            <p14:sldId id="259"/>
            <p14:sldId id="437"/>
            <p14:sldId id="430"/>
            <p14:sldId id="438"/>
            <p14:sldId id="417"/>
            <p14:sldId id="4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18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613B"/>
    <a:srgbClr val="81184B"/>
    <a:srgbClr val="FEFEFE"/>
    <a:srgbClr val="DEE0EC"/>
    <a:srgbClr val="BF22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38"/>
    <p:restoredTop sz="96106"/>
  </p:normalViewPr>
  <p:slideViewPr>
    <p:cSldViewPr snapToGrid="0" showGuides="1">
      <p:cViewPr varScale="1">
        <p:scale>
          <a:sx n="78" d="100"/>
          <a:sy n="78" d="100"/>
        </p:scale>
        <p:origin x="360" y="72"/>
      </p:cViewPr>
      <p:guideLst>
        <p:guide orient="horz" pos="2318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8" Type="http://schemas.openxmlformats.org/officeDocument/2006/relationships/tags" Target="tags/tag33.xml"/><Relationship Id="rId17" Type="http://schemas.openxmlformats.org/officeDocument/2006/relationships/customXml" Target="../customXml/item3.xml"/><Relationship Id="rId16" Type="http://schemas.openxmlformats.org/officeDocument/2006/relationships/customXml" Target="../customXml/item2.xml"/><Relationship Id="rId15" Type="http://schemas.openxmlformats.org/officeDocument/2006/relationships/customXml" Target="../customXml/item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image" Target="../media/image12.wmf"/><Relationship Id="rId1" Type="http://schemas.openxmlformats.org/officeDocument/2006/relationships/image" Target="../media/image11.wmf"/></Relationships>
</file>

<file path=ppt/drawings/_rels/vmlDrawing2.vml.rels><?xml version="1.0" encoding="UTF-8" standalone="yes"?>
<Relationships xmlns="http://schemas.openxmlformats.org/package/2006/relationships"><Relationship Id="rId7" Type="http://schemas.openxmlformats.org/officeDocument/2006/relationships/image" Target="../media/image22.wmf"/><Relationship Id="rId6" Type="http://schemas.openxmlformats.org/officeDocument/2006/relationships/image" Target="../media/image21.wmf"/><Relationship Id="rId5" Type="http://schemas.openxmlformats.org/officeDocument/2006/relationships/image" Target="../media/image20.wmf"/><Relationship Id="rId4" Type="http://schemas.openxmlformats.org/officeDocument/2006/relationships/image" Target="../media/image19.wmf"/><Relationship Id="rId3" Type="http://schemas.openxmlformats.org/officeDocument/2006/relationships/image" Target="../media/image18.wmf"/><Relationship Id="rId2" Type="http://schemas.openxmlformats.org/officeDocument/2006/relationships/image" Target="../media/image17.wmf"/><Relationship Id="rId1" Type="http://schemas.openxmlformats.org/officeDocument/2006/relationships/image" Target="../media/image16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00B123-7999-4963-9C28-D9458969A4BD}" type="datetimeFigureOut">
              <a:rPr lang="zh-HK" altLang="en-US" smtClean="0"/>
            </a:fld>
            <a:endParaRPr lang="zh-HK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K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C14D76-408F-4EB6-94FA-D4C93054791C}" type="slidenum">
              <a:rPr lang="zh-HK" altLang="en-US" smtClean="0"/>
            </a:fld>
            <a:endParaRPr lang="zh-HK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C14D76-408F-4EB6-94FA-D4C93054791C}" type="slidenum">
              <a:rPr lang="zh-HK" altLang="en-US" smtClean="0"/>
            </a:fld>
            <a:endParaRPr lang="zh-HK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 dirty="0"/>
              <a:t>Our network architecture contains three components: </a:t>
            </a:r>
            <a:endParaRPr lang="en-US" altLang="en-US" dirty="0"/>
          </a:p>
          <a:p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Trusted Authority (TA), Roadside Units and on-Board Units, which are for initialization and credentials, infrastructure and time synchronization, broadcasting safety messages, respectively.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en-US" dirty="0"/>
              <a:t>For communcation model,  V2X employs 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one-to-many broadcasting without acknowledgment, via RSUs synchronized time slot 10ms, Vehicles derive authentication keys from a master seed per epoch, 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BOOT frames with signatures for trust establishment and DATA frames with symmetric authentication.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 dirty="0"/>
              <a:t>Our network architecture contains three components: </a:t>
            </a:r>
            <a:endParaRPr lang="en-US" altLang="en-US" dirty="0"/>
          </a:p>
          <a:p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Trusted Authority (TA), Roadside Units and on-Board Units, which are for initialization and credentials, infrastructure and time synchronization, broadcasting safety messages, respectively.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en-US" dirty="0"/>
              <a:t>For communcation model,  V2X employs 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one-to-many broadcasting without acknowledgment, via RSUs synchronized time slot 10ms, Vehicles derive authentication keys from a master seed per epoch, 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BOOT frames with signatures for trust establishment and DATA frames with symmetric authentication.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 dirty="0"/>
              <a:t>Our network architecture contains three components: </a:t>
            </a:r>
            <a:endParaRPr lang="en-US" altLang="en-US" dirty="0"/>
          </a:p>
          <a:p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Trusted Authority (TA), Roadside Units and on-Board Units, which are for initialization and credentials, infrastructure and time synchronization, broadcasting safety messages, respectively.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en-US" dirty="0"/>
              <a:t>For communcation model,  V2X employs 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one-to-many broadcasting without acknowledgment, via RSUs synchronized time slot 10ms, Vehicles derive authentication keys from a master seed per epoch, 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BOOT frames with signatures for trust establishment and DATA frames with symmetric authentication.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/>
              <a:t>Vehicle-to-Everying(V2X) communication has very high standards for safety. To guarantee road safety, messages must be verified within 100ms. But there threee “security-efficieny dilemma”for current authentication methods:</a:t>
            </a:r>
            <a:endParaRPr lang="en-US" altLang="en-US"/>
          </a:p>
          <a:p>
            <a:endParaRPr lang="zh-CN" altLang="en-US"/>
          </a:p>
          <a:p>
            <a:r>
              <a:rPr lang="en-US" altLang="zh-CN"/>
              <a:t>ECDSA method can provide strong security and non-repudiation but require 2ms to compute verification, this can be bottlenecks in dense traffic</a:t>
            </a:r>
            <a:endParaRPr lang="en-US" altLang="zh-CN"/>
          </a:p>
          <a:p>
            <a:r>
              <a:rPr lang="en-US" altLang="zh-CN"/>
              <a:t>In comparsion with ECDSA method, TESLA method is more computationally effiecient, but it has “key disclosure delay”,which is from 20ms to 100ms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So the fact shows a gap, that is,  V2X communication requires </a:t>
            </a:r>
            <a:r>
              <a:rPr lang="en-US" altLang="zh-CN">
                <a:sym typeface="+mn-ea"/>
              </a:rPr>
              <a:t>immediate verification, but</a:t>
            </a:r>
            <a:r>
              <a:rPr lang="en-US" altLang="zh-CN"/>
              <a:t> the existing hybrid schemes are not able to provide high rates of immediate verification, it only provide about 1% immediate verification for non-signed messages.</a:t>
            </a:r>
            <a:endParaRPr lang="en-US" alt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Thank you for your listening.</a:t>
            </a:r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jpeg"/><Relationship Id="rId4" Type="http://schemas.openxmlformats.org/officeDocument/2006/relationships/tags" Target="../tags/tag1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image" Target="../media/image3.jpeg"/><Relationship Id="rId5" Type="http://schemas.openxmlformats.org/officeDocument/2006/relationships/tags" Target="../tags/tag4.xml"/><Relationship Id="rId4" Type="http://schemas.openxmlformats.org/officeDocument/2006/relationships/image" Target="../media/image4.png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7" Type="http://schemas.openxmlformats.org/officeDocument/2006/relationships/image" Target="../media/image3.jpeg"/><Relationship Id="rId6" Type="http://schemas.openxmlformats.org/officeDocument/2006/relationships/tags" Target="../tags/tag6.xml"/><Relationship Id="rId5" Type="http://schemas.openxmlformats.org/officeDocument/2006/relationships/image" Target="../media/image2.png"/><Relationship Id="rId4" Type="http://schemas.openxmlformats.org/officeDocument/2006/relationships/tags" Target="../tags/tag5.xml"/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8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299210" y="1061720"/>
            <a:ext cx="8129905" cy="2773045"/>
          </a:xfrm>
          <a:prstGeom prst="rect">
            <a:avLst/>
          </a:prstGeom>
          <a:solidFill>
            <a:schemeClr val="bg1"/>
          </a:solidFill>
          <a:ln w="12700" cap="flat" cmpd="sng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 descr="CityUHK(DG)_30th_Logo_Horizontal_CMYK_2404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46225" y="1277620"/>
            <a:ext cx="7595870" cy="2620010"/>
          </a:xfrm>
          <a:prstGeom prst="rect">
            <a:avLst/>
          </a:prstGeom>
        </p:spPr>
      </p:pic>
      <p:pic>
        <p:nvPicPr>
          <p:cNvPr id="11" name="图片 10" descr="112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rcRect r="4988"/>
          <a:stretch>
            <a:fillRect/>
          </a:stretch>
        </p:blipFill>
        <p:spPr>
          <a:xfrm>
            <a:off x="170180" y="6129655"/>
            <a:ext cx="5358130" cy="5226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10095865" y="222885"/>
            <a:ext cx="1766570" cy="1353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 descr="1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9958705" y="46990"/>
            <a:ext cx="2040890" cy="17405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pic>
        <p:nvPicPr>
          <p:cNvPr id="11" name="图片 10" descr="112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图片 6" descr="CityUHK(DG)_30th_Logo_Horizontal_CMYK_2404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11455" y="19050"/>
            <a:ext cx="4086225" cy="14097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635"/>
            <a:ext cx="8915400" cy="3716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图片 9" descr="CityUHK(DG)_30th_Logo_Horizontal_CMYK_240430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236855" y="52705"/>
            <a:ext cx="3933190" cy="1356995"/>
          </a:xfrm>
          <a:prstGeom prst="rect">
            <a:avLst/>
          </a:prstGeom>
        </p:spPr>
      </p:pic>
      <p:pic>
        <p:nvPicPr>
          <p:cNvPr id="11" name="图片 10" descr="112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/>
          <a:srcRect r="4988"/>
          <a:stretch>
            <a:fillRect/>
          </a:stretch>
        </p:blipFill>
        <p:spPr>
          <a:xfrm>
            <a:off x="170180" y="6129655"/>
            <a:ext cx="5358130" cy="5226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10" name="图片 9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/>
        </p:nvPicPr>
        <p:blipFill>
          <a:blip r:embed="rId2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7" Type="http://schemas.openxmlformats.org/officeDocument/2006/relationships/theme" Target="../theme/theme2.xml"/><Relationship Id="rId16" Type="http://schemas.openxmlformats.org/officeDocument/2006/relationships/image" Target="../media/image3.jpeg"/><Relationship Id="rId15" Type="http://schemas.openxmlformats.org/officeDocument/2006/relationships/tags" Target="../tags/tag14.xml"/><Relationship Id="rId14" Type="http://schemas.openxmlformats.org/officeDocument/2006/relationships/image" Target="../media/image4.png"/><Relationship Id="rId13" Type="http://schemas.openxmlformats.org/officeDocument/2006/relationships/tags" Target="../tags/tag13.xml"/><Relationship Id="rId12" Type="http://schemas.openxmlformats.org/officeDocument/2006/relationships/image" Target="../media/image7.png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982FB2-2831-44D1-A5B4-0CE63F7731EA}" type="slidenum">
              <a:rPr lang="en-US" smtClean="0"/>
            </a:fld>
            <a:endParaRPr lang="en-US"/>
          </a:p>
        </p:txBody>
      </p:sp>
      <p:sp>
        <p:nvSpPr>
          <p:cNvPr id="7" name="矩形 6"/>
          <p:cNvSpPr/>
          <p:nvPr userDrawn="1">
            <p:custDataLst>
              <p:tags r:id="rId13"/>
            </p:custDataLst>
          </p:nvPr>
        </p:nvSpPr>
        <p:spPr>
          <a:xfrm>
            <a:off x="10095865" y="222885"/>
            <a:ext cx="1766570" cy="1353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 descr="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958705" y="46990"/>
            <a:ext cx="2040890" cy="1740535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pic>
        <p:nvPicPr>
          <p:cNvPr id="11" name="图片 10" descr="112"/>
          <p:cNvPicPr>
            <a:picLocks noChangeAspect="1"/>
          </p:cNvPicPr>
          <p:nvPr userDrawn="1">
            <p:custDataLst>
              <p:tags r:id="rId15"/>
            </p:custDataLst>
          </p:nvPr>
        </p:nvPicPr>
        <p:blipFill>
          <a:blip r:embed="rId16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rgbClr val="DD613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4.bin"/><Relationship Id="rId8" Type="http://schemas.openxmlformats.org/officeDocument/2006/relationships/oleObject" Target="../embeddings/oleObject3.bin"/><Relationship Id="rId7" Type="http://schemas.openxmlformats.org/officeDocument/2006/relationships/image" Target="../media/image12.wmf"/><Relationship Id="rId6" Type="http://schemas.openxmlformats.org/officeDocument/2006/relationships/oleObject" Target="../embeddings/oleObject2.bin"/><Relationship Id="rId5" Type="http://schemas.openxmlformats.org/officeDocument/2006/relationships/image" Target="../media/image11.wmf"/><Relationship Id="rId4" Type="http://schemas.openxmlformats.org/officeDocument/2006/relationships/oleObject" Target="../embeddings/oleObject1.bin"/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3" Type="http://schemas.openxmlformats.org/officeDocument/2006/relationships/notesSlide" Target="../notesSlides/notesSlide2.xml"/><Relationship Id="rId12" Type="http://schemas.openxmlformats.org/officeDocument/2006/relationships/vmlDrawing" Target="../drawings/vmlDrawing1.vml"/><Relationship Id="rId11" Type="http://schemas.openxmlformats.org/officeDocument/2006/relationships/slideLayout" Target="../slideLayouts/slideLayout13.xml"/><Relationship Id="rId10" Type="http://schemas.openxmlformats.org/officeDocument/2006/relationships/image" Target="../media/image13.wmf"/><Relationship Id="rId1" Type="http://schemas.openxmlformats.org/officeDocument/2006/relationships/tags" Target="../tags/tag15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wmf"/><Relationship Id="rId8" Type="http://schemas.openxmlformats.org/officeDocument/2006/relationships/oleObject" Target="../embeddings/oleObject6.bin"/><Relationship Id="rId7" Type="http://schemas.openxmlformats.org/officeDocument/2006/relationships/image" Target="../media/image16.wmf"/><Relationship Id="rId6" Type="http://schemas.openxmlformats.org/officeDocument/2006/relationships/oleObject" Target="../embeddings/oleObject5.bin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image" Target="../media/image15.svg"/><Relationship Id="rId23" Type="http://schemas.openxmlformats.org/officeDocument/2006/relationships/notesSlide" Target="../notesSlides/notesSlide3.xml"/><Relationship Id="rId22" Type="http://schemas.openxmlformats.org/officeDocument/2006/relationships/vmlDrawing" Target="../drawings/vmlDrawing2.vml"/><Relationship Id="rId21" Type="http://schemas.openxmlformats.org/officeDocument/2006/relationships/slideLayout" Target="../slideLayouts/slideLayout13.xml"/><Relationship Id="rId20" Type="http://schemas.openxmlformats.org/officeDocument/2006/relationships/tags" Target="../tags/tag19.xml"/><Relationship Id="rId2" Type="http://schemas.openxmlformats.org/officeDocument/2006/relationships/image" Target="../media/image14.png"/><Relationship Id="rId19" Type="http://schemas.openxmlformats.org/officeDocument/2006/relationships/image" Target="../media/image22.wmf"/><Relationship Id="rId18" Type="http://schemas.openxmlformats.org/officeDocument/2006/relationships/oleObject" Target="../embeddings/oleObject11.bin"/><Relationship Id="rId17" Type="http://schemas.openxmlformats.org/officeDocument/2006/relationships/image" Target="../media/image21.wmf"/><Relationship Id="rId16" Type="http://schemas.openxmlformats.org/officeDocument/2006/relationships/oleObject" Target="../embeddings/oleObject10.bin"/><Relationship Id="rId15" Type="http://schemas.openxmlformats.org/officeDocument/2006/relationships/image" Target="../media/image20.wmf"/><Relationship Id="rId14" Type="http://schemas.openxmlformats.org/officeDocument/2006/relationships/oleObject" Target="../embeddings/oleObject9.bin"/><Relationship Id="rId13" Type="http://schemas.openxmlformats.org/officeDocument/2006/relationships/image" Target="../media/image19.wmf"/><Relationship Id="rId12" Type="http://schemas.openxmlformats.org/officeDocument/2006/relationships/oleObject" Target="../embeddings/oleObject8.bin"/><Relationship Id="rId11" Type="http://schemas.openxmlformats.org/officeDocument/2006/relationships/image" Target="../media/image18.wmf"/><Relationship Id="rId10" Type="http://schemas.openxmlformats.org/officeDocument/2006/relationships/oleObject" Target="../embeddings/oleObject7.bin"/><Relationship Id="rId1" Type="http://schemas.openxmlformats.org/officeDocument/2006/relationships/tags" Target="../tags/tag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image" Target="../media/image27.svg"/><Relationship Id="rId6" Type="http://schemas.openxmlformats.org/officeDocument/2006/relationships/image" Target="../media/image26.png"/><Relationship Id="rId5" Type="http://schemas.openxmlformats.org/officeDocument/2006/relationships/tags" Target="../tags/tag22.xml"/><Relationship Id="rId4" Type="http://schemas.openxmlformats.org/officeDocument/2006/relationships/image" Target="../media/image25.svg"/><Relationship Id="rId3" Type="http://schemas.openxmlformats.org/officeDocument/2006/relationships/image" Target="../media/image24.png"/><Relationship Id="rId2" Type="http://schemas.openxmlformats.org/officeDocument/2006/relationships/tags" Target="../tags/tag21.xml"/><Relationship Id="rId16" Type="http://schemas.openxmlformats.org/officeDocument/2006/relationships/notesSlide" Target="../notesSlides/notesSlide5.xml"/><Relationship Id="rId15" Type="http://schemas.openxmlformats.org/officeDocument/2006/relationships/slideLayout" Target="../slideLayouts/slideLayout13.xml"/><Relationship Id="rId14" Type="http://schemas.openxmlformats.org/officeDocument/2006/relationships/tags" Target="../tags/tag29.xml"/><Relationship Id="rId13" Type="http://schemas.openxmlformats.org/officeDocument/2006/relationships/tags" Target="../tags/tag28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tags" Target="../tags/tag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5660" y="1280795"/>
            <a:ext cx="9336405" cy="1940560"/>
          </a:xfrm>
        </p:spPr>
        <p:txBody>
          <a:bodyPr>
            <a:noAutofit/>
          </a:bodyPr>
          <a:lstStyle/>
          <a:p>
            <a:pPr algn="l"/>
            <a:r>
              <a:rPr lang="en-US" altLang="zh-CN" sz="4400" dirty="0">
                <a:solidFill>
                  <a:srgbClr val="DD613B"/>
                </a:solidFill>
                <a:latin typeface="Times New Roman Regular" panose="02020503050405090304" charset="0"/>
                <a:ea typeface="Kaiti TC" panose="02010600040101010101" pitchFamily="2" charset="-120"/>
                <a:cs typeface="Times New Roman Regular" panose="02020503050405090304" charset="0"/>
              </a:rPr>
              <a:t>Multihop Sidelink In-door Localization Using Wi-Fi CSI</a:t>
            </a:r>
            <a:endParaRPr lang="en-US" altLang="zh-CN" sz="4400" dirty="0">
              <a:solidFill>
                <a:srgbClr val="DD613B"/>
              </a:solidFill>
              <a:latin typeface="Times New Roman Regular" panose="02020503050405090304" charset="0"/>
              <a:ea typeface="Kaiti TC" panose="02010600040101010101" pitchFamily="2" charset="-120"/>
              <a:cs typeface="Times New Roman Regular" panose="0202050305040509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7"/>
          <p:cNvSpPr/>
          <p:nvPr/>
        </p:nvSpPr>
        <p:spPr>
          <a:xfrm>
            <a:off x="5601335" y="1764030"/>
            <a:ext cx="3305175" cy="291084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椭圆 4"/>
          <p:cNvSpPr/>
          <p:nvPr/>
        </p:nvSpPr>
        <p:spPr>
          <a:xfrm>
            <a:off x="6238875" y="2256790"/>
            <a:ext cx="2061210" cy="192532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椭圆 3"/>
          <p:cNvSpPr/>
          <p:nvPr/>
        </p:nvSpPr>
        <p:spPr>
          <a:xfrm>
            <a:off x="6445250" y="2482215"/>
            <a:ext cx="1617345" cy="1504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Title 2"/>
          <p:cNvSpPr txBox="1"/>
          <p:nvPr/>
        </p:nvSpPr>
        <p:spPr>
          <a:xfrm>
            <a:off x="299720" y="516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4000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Dataset Prepare </a:t>
            </a:r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06070" y="1483360"/>
            <a:ext cx="5358130" cy="226250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Training Dataset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Distance Range: 1~50m.   Distance Interval: 2m.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Angle Range: 0~350</a:t>
            </a:r>
            <a:r>
              <a:rPr lang="zh-CN" altLang="en-US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°</a:t>
            </a: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.       Angle Interval: 10</a:t>
            </a:r>
            <a:r>
              <a:rPr lang="zh-CN" altLang="en-US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°</a:t>
            </a:r>
            <a:endParaRPr lang="zh-CN" altLang="en-US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Testing Dataset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Distance Range: 2~50m.   Distance Interval: 2m.</a:t>
            </a:r>
            <a:endParaRPr lang="en-US" altLang="zh-CN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Angle Range: 5~350</a:t>
            </a:r>
            <a:r>
              <a:rPr lang="zh-CN" altLang="en-US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°</a:t>
            </a:r>
            <a:r>
              <a:rPr lang="en-US" altLang="zh-CN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.       Angle Interval: 10</a:t>
            </a:r>
            <a:r>
              <a:rPr lang="zh-CN" altLang="en-US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°</a:t>
            </a: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Two Scenarios for Training and Testing Dataset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Without Wall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 Wall: Wall Loss [0, 90] dB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Confidence: [1.0, 0.1] corresponding to Wall Loss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" name="椭圆 2"/>
          <p:cNvSpPr/>
          <p:nvPr/>
        </p:nvSpPr>
        <p:spPr>
          <a:xfrm>
            <a:off x="6718300" y="2723515"/>
            <a:ext cx="1071880" cy="10223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>
            <a:off x="6355080" y="2081530"/>
            <a:ext cx="229235" cy="278765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 flipV="1">
            <a:off x="7268210" y="1759585"/>
            <a:ext cx="6985" cy="1455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7268210" y="1483360"/>
            <a:ext cx="438150" cy="16192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900">
                <a:latin typeface="Arial" panose="020B0604020202020204" pitchFamily="34" charset="0"/>
                <a:ea typeface="微软雅黑" panose="020B0503020204020204" charset="-122"/>
              </a:rPr>
              <a:t>50 m</a:t>
            </a:r>
            <a:endParaRPr lang="en-US" altLang="zh-CN" sz="90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965950" y="3151505"/>
            <a:ext cx="438150" cy="16637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900">
                <a:latin typeface="Arial" panose="020B0604020202020204" pitchFamily="34" charset="0"/>
                <a:ea typeface="微软雅黑" panose="020B0503020204020204" charset="-122"/>
              </a:rPr>
              <a:t>0 m</a:t>
            </a:r>
            <a:endParaRPr lang="en-US" altLang="zh-CN" sz="90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7790180" y="2360295"/>
            <a:ext cx="75565" cy="75565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7877810" y="2770505"/>
            <a:ext cx="75565" cy="75565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4" name="图片 13" descr="路由器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9015" y="3164205"/>
            <a:ext cx="153670" cy="153670"/>
          </a:xfrm>
          <a:prstGeom prst="rect">
            <a:avLst/>
          </a:prstGeom>
        </p:spPr>
      </p:pic>
      <p:cxnSp>
        <p:nvCxnSpPr>
          <p:cNvPr id="15" name="直接箭头连接符 14"/>
          <p:cNvCxnSpPr/>
          <p:nvPr/>
        </p:nvCxnSpPr>
        <p:spPr>
          <a:xfrm flipH="1">
            <a:off x="7451725" y="2548255"/>
            <a:ext cx="95250" cy="231140"/>
          </a:xfrm>
          <a:prstGeom prst="straightConnector1">
            <a:avLst/>
          </a:prstGeom>
          <a:ln>
            <a:solidFill>
              <a:schemeClr val="accent2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 flipV="1">
            <a:off x="7268210" y="2195195"/>
            <a:ext cx="1672590" cy="101981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7275195" y="1725930"/>
            <a:ext cx="1026795" cy="148907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弧形 19"/>
          <p:cNvSpPr/>
          <p:nvPr/>
        </p:nvSpPr>
        <p:spPr>
          <a:xfrm>
            <a:off x="7723505" y="1901825"/>
            <a:ext cx="951865" cy="781050"/>
          </a:xfrm>
          <a:prstGeom prst="arc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21" name="对象 2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586470" y="1901508"/>
          <a:ext cx="241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4" imgW="241300" imgH="177165" progId="Equation.KSEE3">
                  <p:embed/>
                </p:oleObj>
              </mc:Choice>
              <mc:Fallback>
                <p:oleObj name="" r:id="rId4" imgW="241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586470" y="1901508"/>
                        <a:ext cx="241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对象 2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268210" y="2548256"/>
          <a:ext cx="241300" cy="165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6" imgW="241300" imgH="165100" progId="Equation.KSEE3">
                  <p:embed/>
                </p:oleObj>
              </mc:Choice>
              <mc:Fallback>
                <p:oleObj name="" r:id="rId6" imgW="241300" imgH="1651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268210" y="2548256"/>
                        <a:ext cx="241300" cy="165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对象 2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9173210" y="2779395"/>
          <a:ext cx="447675" cy="3060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" name="" r:id="rId8" imgW="241300" imgH="165100" progId="Equation.KSEE3">
                  <p:embed/>
                </p:oleObj>
              </mc:Choice>
              <mc:Fallback>
                <p:oleObj name="" r:id="rId8" imgW="241300" imgH="1651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9173210" y="2779395"/>
                        <a:ext cx="447675" cy="30607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文本框 24"/>
          <p:cNvSpPr txBox="1"/>
          <p:nvPr/>
        </p:nvSpPr>
        <p:spPr>
          <a:xfrm>
            <a:off x="9624695" y="2770505"/>
            <a:ext cx="2062480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: Distance Interval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26" name="对象 2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9173210" y="3159760"/>
          <a:ext cx="447675" cy="3289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" name="" r:id="rId9" imgW="241300" imgH="177165" progId="Equation.KSEE3">
                  <p:embed/>
                </p:oleObj>
              </mc:Choice>
              <mc:Fallback>
                <p:oleObj name="" r:id="rId9" imgW="241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9173210" y="3159760"/>
                        <a:ext cx="447675" cy="3289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文本框 29"/>
          <p:cNvSpPr txBox="1"/>
          <p:nvPr/>
        </p:nvSpPr>
        <p:spPr>
          <a:xfrm>
            <a:off x="9655175" y="3120390"/>
            <a:ext cx="2032000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: Angle Interval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1" name="椭圆 30"/>
          <p:cNvSpPr/>
          <p:nvPr/>
        </p:nvSpPr>
        <p:spPr>
          <a:xfrm>
            <a:off x="9318625" y="3577590"/>
            <a:ext cx="186055" cy="191135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/>
        </p:nvSpPr>
        <p:spPr>
          <a:xfrm>
            <a:off x="9655175" y="3488690"/>
            <a:ext cx="866775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: Node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2"/>
          <p:cNvSpPr txBox="1"/>
          <p:nvPr/>
        </p:nvSpPr>
        <p:spPr>
          <a:xfrm>
            <a:off x="299720" y="516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4000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Model</a:t>
            </a:r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6710" y="1597978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zh-HK" sz="1600">
              <a:latin typeface="Times New Roman" panose="02020603050405020304"/>
              <a:ea typeface="宋体" panose="02010600030101010101" pitchFamily="2" charset="-122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endParaRPr lang="en-US" altLang="zh-HK" sz="1600">
              <a:latin typeface="Times New Roman" panose="02020603050405020304"/>
              <a:ea typeface="宋体" panose="02010600030101010101" pitchFamily="2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47345" y="1530350"/>
            <a:ext cx="5295900" cy="82994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indent="0" algn="l">
              <a:buFont typeface="Wingdings" panose="05000000000000000000" charset="0"/>
              <a:buNone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Ability of Model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Predict distance and angle from node to node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Evaluate quality of CSI data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69570" y="4272915"/>
            <a:ext cx="1449705" cy="14274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>
            <a:off x="369570" y="4504055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369570" y="4707890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>
            <a:off x="369570" y="4911725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369570" y="5523230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369570" y="5115560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369570" y="5319395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>
            <a:stCxn id="5" idx="0"/>
            <a:endCxn id="5" idx="2"/>
          </p:cNvCxnSpPr>
          <p:nvPr/>
        </p:nvCxnSpPr>
        <p:spPr>
          <a:xfrm>
            <a:off x="1094740" y="4272915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98805" y="4272915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809625" y="4272915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1342390" y="4272915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1574165" y="4272915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左大括号 17"/>
          <p:cNvSpPr/>
          <p:nvPr/>
        </p:nvSpPr>
        <p:spPr>
          <a:xfrm>
            <a:off x="1861185" y="4025900"/>
            <a:ext cx="342900" cy="211455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68935" y="3649980"/>
            <a:ext cx="1492250" cy="53530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unwrapped CSI(NRx*NSub)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443480" y="4025900"/>
            <a:ext cx="748665" cy="31496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R</a:t>
            </a:r>
            <a:r>
              <a:rPr lang="en-US" altLang="zh-CN"/>
              <a:t>eal</a:t>
            </a:r>
            <a:endParaRPr lang="en-US" altLang="zh-CN"/>
          </a:p>
        </p:txBody>
      </p:sp>
      <p:sp>
        <p:nvSpPr>
          <p:cNvPr id="56" name="矩形 55"/>
          <p:cNvSpPr/>
          <p:nvPr/>
        </p:nvSpPr>
        <p:spPr>
          <a:xfrm>
            <a:off x="3192145" y="4025900"/>
            <a:ext cx="748665" cy="314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Imag</a:t>
            </a:r>
            <a:endParaRPr lang="en-US" altLang="zh-CN"/>
          </a:p>
        </p:txBody>
      </p:sp>
      <p:sp>
        <p:nvSpPr>
          <p:cNvPr id="57" name="文本框 56"/>
          <p:cNvSpPr txBox="1"/>
          <p:nvPr/>
        </p:nvSpPr>
        <p:spPr>
          <a:xfrm>
            <a:off x="2931795" y="3607435"/>
            <a:ext cx="648970" cy="25908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Rx_0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2446020" y="4861560"/>
            <a:ext cx="1497965" cy="59563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Sin</a:t>
            </a:r>
            <a:endParaRPr lang="en-US" altLang="zh-CN"/>
          </a:p>
        </p:txBody>
      </p:sp>
      <p:sp>
        <p:nvSpPr>
          <p:cNvPr id="59" name="矩形 58"/>
          <p:cNvSpPr/>
          <p:nvPr/>
        </p:nvSpPr>
        <p:spPr>
          <a:xfrm>
            <a:off x="2446020" y="5457190"/>
            <a:ext cx="1497965" cy="59563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Cos</a:t>
            </a:r>
            <a:endParaRPr lang="en-US" altLang="zh-CN"/>
          </a:p>
        </p:txBody>
      </p:sp>
      <p:sp>
        <p:nvSpPr>
          <p:cNvPr id="61" name="文本框 60"/>
          <p:cNvSpPr txBox="1"/>
          <p:nvPr/>
        </p:nvSpPr>
        <p:spPr>
          <a:xfrm>
            <a:off x="2710815" y="4560570"/>
            <a:ext cx="967740" cy="25908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Phase_diff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4018280" y="4183380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直接箭头连接符 65"/>
          <p:cNvCxnSpPr/>
          <p:nvPr/>
        </p:nvCxnSpPr>
        <p:spPr>
          <a:xfrm>
            <a:off x="4021455" y="545147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7" name="文本框 66"/>
          <p:cNvSpPr txBox="1"/>
          <p:nvPr/>
        </p:nvSpPr>
        <p:spPr>
          <a:xfrm>
            <a:off x="3940810" y="3866515"/>
            <a:ext cx="819785" cy="27432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Flatten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3940810" y="5177155"/>
            <a:ext cx="819785" cy="27432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Flatten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4787900" y="3473450"/>
            <a:ext cx="259080" cy="274383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72" name="图片 71" descr="神经网络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0565" y="3199765"/>
            <a:ext cx="788670" cy="788670"/>
          </a:xfrm>
          <a:prstGeom prst="rect">
            <a:avLst/>
          </a:prstGeom>
        </p:spPr>
      </p:pic>
      <p:cxnSp>
        <p:nvCxnSpPr>
          <p:cNvPr id="73" name="直接箭头连接符 72"/>
          <p:cNvCxnSpPr/>
          <p:nvPr/>
        </p:nvCxnSpPr>
        <p:spPr>
          <a:xfrm>
            <a:off x="5169535" y="359981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74" name="图片 73" descr="神经网络1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200" y="4461510"/>
            <a:ext cx="788670" cy="788670"/>
          </a:xfrm>
          <a:prstGeom prst="rect">
            <a:avLst/>
          </a:prstGeom>
        </p:spPr>
      </p:pic>
      <p:pic>
        <p:nvPicPr>
          <p:cNvPr id="77" name="图片 76" descr="神经网络1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3425" y="5661660"/>
            <a:ext cx="788670" cy="788670"/>
          </a:xfrm>
          <a:prstGeom prst="rect">
            <a:avLst/>
          </a:prstGeom>
        </p:spPr>
      </p:pic>
      <p:cxnSp>
        <p:nvCxnSpPr>
          <p:cNvPr id="78" name="直接箭头连接符 77"/>
          <p:cNvCxnSpPr/>
          <p:nvPr/>
        </p:nvCxnSpPr>
        <p:spPr>
          <a:xfrm>
            <a:off x="5146675" y="4861560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/>
          <p:nvPr/>
        </p:nvCxnSpPr>
        <p:spPr>
          <a:xfrm>
            <a:off x="5133975" y="604710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0" name="文本框 79"/>
          <p:cNvSpPr txBox="1"/>
          <p:nvPr/>
        </p:nvSpPr>
        <p:spPr>
          <a:xfrm>
            <a:off x="5777865" y="2933700"/>
            <a:ext cx="883920" cy="342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dist_net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5784215" y="4118610"/>
            <a:ext cx="883920" cy="342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angle_net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5791200" y="5337175"/>
            <a:ext cx="883920" cy="342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conf_net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83" name="直接箭头连接符 82"/>
          <p:cNvCxnSpPr/>
          <p:nvPr/>
        </p:nvCxnSpPr>
        <p:spPr>
          <a:xfrm>
            <a:off x="6642735" y="359981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/>
          <p:nvPr/>
        </p:nvCxnSpPr>
        <p:spPr>
          <a:xfrm>
            <a:off x="6579870" y="4867910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5" name="直接箭头连接符 84"/>
          <p:cNvCxnSpPr/>
          <p:nvPr/>
        </p:nvCxnSpPr>
        <p:spPr>
          <a:xfrm>
            <a:off x="6579235" y="605853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86" name="对象 8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357110" y="3346450"/>
          <a:ext cx="202565" cy="4051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r:id="rId6" imgW="139700" imgH="279400" progId="Equation.KSEE3">
                  <p:embed/>
                </p:oleObj>
              </mc:Choice>
              <mc:Fallback>
                <p:oleObj name="" r:id="rId6" imgW="139700" imgH="2794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357110" y="3346450"/>
                        <a:ext cx="202565" cy="4051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7" name="对象 8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366318" y="4587875"/>
          <a:ext cx="184150" cy="4051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r:id="rId8" imgW="127000" imgH="279400" progId="Equation.KSEE3">
                  <p:embed/>
                </p:oleObj>
              </mc:Choice>
              <mc:Fallback>
                <p:oleObj name="" r:id="rId8" imgW="127000" imgH="2794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366318" y="4587875"/>
                        <a:ext cx="184150" cy="4051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8" name="对象 8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384416" y="5804535"/>
          <a:ext cx="165735" cy="4051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" name="" r:id="rId10" imgW="114300" imgH="279400" progId="Equation.KSEE3">
                  <p:embed/>
                </p:oleObj>
              </mc:Choice>
              <mc:Fallback>
                <p:oleObj name="" r:id="rId10" imgW="114300" imgH="2794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384416" y="5804535"/>
                        <a:ext cx="165735" cy="4051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0" name="文本框 89"/>
          <p:cNvSpPr txBox="1"/>
          <p:nvPr/>
        </p:nvSpPr>
        <p:spPr>
          <a:xfrm>
            <a:off x="382905" y="2771140"/>
            <a:ext cx="1318260" cy="33718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indent="0" algn="l">
              <a:buFont typeface="Wingdings" panose="05000000000000000000" charset="0"/>
              <a:buNone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Confidence =  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91" name="对象 9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638300" y="2839085"/>
          <a:ext cx="1645920" cy="2692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" name="" r:id="rId12" imgW="1320165" imgH="215900" progId="Equation.KSEE3">
                  <p:embed/>
                </p:oleObj>
              </mc:Choice>
              <mc:Fallback>
                <p:oleObj name="" r:id="rId12" imgW="1320165" imgH="215900" progId="Equation.KSEE3">
                  <p:embed/>
                  <p:pic>
                    <p:nvPicPr>
                      <p:cNvPr id="0" name="图片 2049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638300" y="2839085"/>
                        <a:ext cx="1645920" cy="2692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2" name="直接箭头连接符 91"/>
          <p:cNvCxnSpPr/>
          <p:nvPr/>
        </p:nvCxnSpPr>
        <p:spPr>
          <a:xfrm flipH="1">
            <a:off x="6453505" y="3767455"/>
            <a:ext cx="840105" cy="1966595"/>
          </a:xfrm>
          <a:prstGeom prst="straightConnector1">
            <a:avLst/>
          </a:prstGeom>
          <a:ln>
            <a:solidFill>
              <a:srgbClr val="BF226A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3" name="矩形 92"/>
          <p:cNvSpPr/>
          <p:nvPr/>
        </p:nvSpPr>
        <p:spPr>
          <a:xfrm>
            <a:off x="7293610" y="3276600"/>
            <a:ext cx="356870" cy="3030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94" name="对象 9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317230" y="3473133"/>
          <a:ext cx="202565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5" name="" r:id="rId14" imgW="139700" imgH="177165" progId="Equation.KSEE3">
                  <p:embed/>
                </p:oleObj>
              </mc:Choice>
              <mc:Fallback>
                <p:oleObj name="" r:id="rId14" imgW="139700" imgH="177165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8317230" y="3473133"/>
                        <a:ext cx="202565" cy="257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6" name="对象 9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344218" y="4735513"/>
          <a:ext cx="18415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" name="" r:id="rId16" imgW="127000" imgH="177165" progId="Equation.KSEE3">
                  <p:embed/>
                </p:oleObj>
              </mc:Choice>
              <mc:Fallback>
                <p:oleObj name="" r:id="rId16" imgW="127000" imgH="177165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8344218" y="4735513"/>
                        <a:ext cx="184150" cy="257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" name="对象 9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344536" y="6014403"/>
          <a:ext cx="165735" cy="2025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9" name="" r:id="rId18" imgW="114300" imgH="139700" progId="Equation.KSEE3">
                  <p:embed/>
                </p:oleObj>
              </mc:Choice>
              <mc:Fallback>
                <p:oleObj name="" r:id="rId18" imgW="114300" imgH="1397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8344536" y="6014403"/>
                        <a:ext cx="165735" cy="2025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0" name="矩形 99"/>
          <p:cNvSpPr/>
          <p:nvPr/>
        </p:nvSpPr>
        <p:spPr>
          <a:xfrm>
            <a:off x="8253730" y="3276600"/>
            <a:ext cx="356870" cy="3030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01" name="直接箭头连接符 100"/>
          <p:cNvCxnSpPr/>
          <p:nvPr/>
        </p:nvCxnSpPr>
        <p:spPr>
          <a:xfrm>
            <a:off x="7650480" y="3601720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/>
          <p:nvPr/>
        </p:nvCxnSpPr>
        <p:spPr>
          <a:xfrm>
            <a:off x="7650480" y="4868545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>
            <a:off x="7650480" y="6064250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4" name="文本框 103"/>
          <p:cNvSpPr txBox="1"/>
          <p:nvPr/>
        </p:nvSpPr>
        <p:spPr>
          <a:xfrm>
            <a:off x="9653905" y="4707890"/>
            <a:ext cx="582295" cy="31496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loss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105" name="直接箭头连接符 104"/>
          <p:cNvCxnSpPr/>
          <p:nvPr/>
        </p:nvCxnSpPr>
        <p:spPr>
          <a:xfrm>
            <a:off x="8700135" y="3494405"/>
            <a:ext cx="967740" cy="11836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 flipV="1">
            <a:off x="8673465" y="4845685"/>
            <a:ext cx="908685" cy="1143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8700135" y="5013325"/>
            <a:ext cx="889000" cy="10566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>
            <a:off x="7672705" y="4868545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9" name="文本框 108"/>
          <p:cNvSpPr txBox="1"/>
          <p:nvPr/>
        </p:nvSpPr>
        <p:spPr>
          <a:xfrm>
            <a:off x="8977630" y="3649980"/>
            <a:ext cx="1198880" cy="215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dist_weight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8510270" y="4512310"/>
            <a:ext cx="1143635" cy="30734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angle_weight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8840470" y="5854065"/>
            <a:ext cx="1198880" cy="215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conf_weight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112" name="表格 111"/>
          <p:cNvGraphicFramePr/>
          <p:nvPr>
            <p:custDataLst>
              <p:tags r:id="rId20"/>
            </p:custDataLst>
          </p:nvPr>
        </p:nvGraphicFramePr>
        <p:xfrm>
          <a:off x="4662170" y="1470660"/>
          <a:ext cx="6590665" cy="14643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7190"/>
                <a:gridCol w="1634490"/>
                <a:gridCol w="1661795"/>
                <a:gridCol w="164719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Scenario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dist_weight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angle_weight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conf_weight</a:t>
                      </a: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conf = 1.0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</a:t>
                      </a:r>
                      <a:endParaRPr lang="en-US" altLang="zh-CN"/>
                    </a:p>
                  </a:txBody>
                  <a:tcPr/>
                </a:tc>
              </a:tr>
              <a:tr h="36703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1.0 &lt; conf </a:t>
                      </a:r>
                      <a:r>
                        <a:rPr lang="en-US" altLang="zh-CN"/>
                        <a:t>≤ 0.5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</a:t>
                      </a: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0.1 </a:t>
                      </a:r>
                      <a:r>
                        <a:rPr lang="en-US" altLang="zh-CN"/>
                        <a:t>≤ conf &lt; 0.5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*0.5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2"/>
          <p:cNvSpPr txBox="1"/>
          <p:nvPr/>
        </p:nvSpPr>
        <p:spPr>
          <a:xfrm>
            <a:off x="299720" y="516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  <p:pic>
        <p:nvPicPr>
          <p:cNvPr id="9" name="图片 8" descr="csi_test_mae_vs_wall_loss_20MHz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1475" y="1505585"/>
            <a:ext cx="7435850" cy="286321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78180" y="4431665"/>
            <a:ext cx="5777230" cy="147637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 Wall Loss decreasing, Distance/Angle decreases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Low Confidence, Distance, and  MAE when Wall Loss &lt; 20 dB (corresponding to Confidence within [0.8, 1.0]). So  Confidence in this range considered as reasonble.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8" name="Title 2"/>
          <p:cNvSpPr txBox="1"/>
          <p:nvPr/>
        </p:nvSpPr>
        <p:spPr>
          <a:xfrm>
            <a:off x="426720" y="643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4000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Model</a:t>
            </a:r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8200" y="1794649"/>
            <a:ext cx="107667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altLang="zh-CN" sz="3200" dirty="0">
              <a:latin typeface="Kaiti TC" panose="02010600040101010101" pitchFamily="2" charset="-120"/>
              <a:ea typeface="Kaiti TC" panose="02010600040101010101" pitchFamily="2" charset="-120"/>
            </a:endParaRPr>
          </a:p>
        </p:txBody>
      </p:sp>
      <p:sp>
        <p:nvSpPr>
          <p:cNvPr id="7" name="Title 2"/>
          <p:cNvSpPr txBox="1"/>
          <p:nvPr/>
        </p:nvSpPr>
        <p:spPr>
          <a:xfrm>
            <a:off x="265430" y="459740"/>
            <a:ext cx="1026160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 err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Scene</a:t>
            </a:r>
            <a:endParaRPr lang="en-US" altLang="zh-CN" sz="4000" dirty="0" err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14" name="图片 13" descr="路由器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/>
          <a:stretch>
            <a:fillRect/>
          </a:stretch>
        </p:blipFill>
        <p:spPr>
          <a:xfrm>
            <a:off x="7359015" y="3164205"/>
            <a:ext cx="153670" cy="153670"/>
          </a:xfrm>
          <a:prstGeom prst="rect">
            <a:avLst/>
          </a:prstGeom>
        </p:spPr>
      </p:pic>
      <p:pic>
        <p:nvPicPr>
          <p:cNvPr id="4" name="图片 3" descr="路由器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6245" y="2378075"/>
            <a:ext cx="501650" cy="501650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1181735" y="3445510"/>
            <a:ext cx="1680210" cy="984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 rot="18540000">
            <a:off x="3554095" y="2407285"/>
            <a:ext cx="1287780" cy="3149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 descr="电子设备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17750" y="4297680"/>
            <a:ext cx="313690" cy="313690"/>
          </a:xfrm>
          <a:prstGeom prst="rect">
            <a:avLst/>
          </a:prstGeom>
        </p:spPr>
      </p:pic>
      <p:pic>
        <p:nvPicPr>
          <p:cNvPr id="12" name="图片 11" descr="电子设备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1190" y="2162810"/>
            <a:ext cx="313690" cy="313690"/>
          </a:xfrm>
          <a:prstGeom prst="rect">
            <a:avLst/>
          </a:prstGeom>
        </p:spPr>
      </p:pic>
      <p:pic>
        <p:nvPicPr>
          <p:cNvPr id="13" name="图片 12" descr="电子设备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9410" y="3317875"/>
            <a:ext cx="313690" cy="313690"/>
          </a:xfrm>
          <a:prstGeom prst="rect">
            <a:avLst/>
          </a:prstGeom>
        </p:spPr>
      </p:pic>
      <p:pic>
        <p:nvPicPr>
          <p:cNvPr id="15" name="图片 14" descr="电子设备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22520" y="2476500"/>
            <a:ext cx="313690" cy="313690"/>
          </a:xfrm>
          <a:prstGeom prst="rect">
            <a:avLst/>
          </a:prstGeom>
        </p:spPr>
      </p:pic>
      <p:pic>
        <p:nvPicPr>
          <p:cNvPr id="16" name="图片 15" descr="电子设备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55925" y="1604010"/>
            <a:ext cx="313690" cy="313690"/>
          </a:xfrm>
          <a:prstGeom prst="rect">
            <a:avLst/>
          </a:prstGeom>
        </p:spPr>
      </p:pic>
      <p:pic>
        <p:nvPicPr>
          <p:cNvPr id="17" name="图片 16" descr="电子设备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57955" y="3587750"/>
            <a:ext cx="313690" cy="313690"/>
          </a:xfrm>
          <a:prstGeom prst="rect">
            <a:avLst/>
          </a:prstGeom>
        </p:spPr>
      </p:pic>
      <p:sp>
        <p:nvSpPr>
          <p:cNvPr id="18" name="矩形 17"/>
          <p:cNvSpPr/>
          <p:nvPr/>
        </p:nvSpPr>
        <p:spPr>
          <a:xfrm rot="1200000">
            <a:off x="1979295" y="2058670"/>
            <a:ext cx="1294765" cy="20256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9" name="直接连接符 18"/>
          <p:cNvCxnSpPr/>
          <p:nvPr/>
        </p:nvCxnSpPr>
        <p:spPr>
          <a:xfrm flipH="1">
            <a:off x="537210" y="2546985"/>
            <a:ext cx="245110" cy="69977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1083945" y="2451735"/>
            <a:ext cx="486410" cy="29273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695325" y="3733800"/>
            <a:ext cx="1487805" cy="72009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 flipV="1">
            <a:off x="2766060" y="3901440"/>
            <a:ext cx="1161415" cy="52578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4273550" y="2921000"/>
            <a:ext cx="648970" cy="60071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3358515" y="1807845"/>
            <a:ext cx="1463040" cy="75628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>
            <a:stCxn id="4" idx="3"/>
          </p:cNvCxnSpPr>
          <p:nvPr/>
        </p:nvCxnSpPr>
        <p:spPr>
          <a:xfrm flipV="1">
            <a:off x="2207895" y="1912620"/>
            <a:ext cx="748030" cy="71628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 flipV="1">
            <a:off x="722630" y="2914015"/>
            <a:ext cx="983615" cy="53149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H="1" flipV="1">
            <a:off x="1945005" y="2941955"/>
            <a:ext cx="483235" cy="127381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 flipH="1" flipV="1">
            <a:off x="2254885" y="2917825"/>
            <a:ext cx="1656715" cy="74485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H="1">
            <a:off x="2317750" y="2724785"/>
            <a:ext cx="2461895" cy="10414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>
            <a:off x="3131820" y="1979930"/>
            <a:ext cx="839470" cy="147574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 flipH="1">
            <a:off x="2616835" y="2011045"/>
            <a:ext cx="427355" cy="221170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 flipV="1">
            <a:off x="2713990" y="2780665"/>
            <a:ext cx="2184400" cy="152844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882015" y="2564765"/>
            <a:ext cx="1363980" cy="163703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1031240" y="2481580"/>
            <a:ext cx="2789555" cy="127889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500380" y="5052060"/>
            <a:ext cx="530860" cy="317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266190" y="4900295"/>
            <a:ext cx="867410" cy="26098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Sidelink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38" name="直接连接符 37"/>
          <p:cNvCxnSpPr/>
          <p:nvPr/>
        </p:nvCxnSpPr>
        <p:spPr>
          <a:xfrm flipH="1">
            <a:off x="500380" y="5398770"/>
            <a:ext cx="513715" cy="889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1266190" y="5224780"/>
            <a:ext cx="867410" cy="26098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Mainlink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5575935" y="1484630"/>
            <a:ext cx="5309235" cy="196151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1. AP as original point (0, 0);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2. AP receive CSI data from neighbor nodes;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3. AP chose the the node, N1, with highest Confidence;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4. AP compute</a:t>
            </a: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 coordination of  N1 and transmit it to N1;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5. N1 opperates as anchor node and repeat step 2-4 until target node get its coordination.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5624195" y="3733800"/>
            <a:ext cx="4378960" cy="64516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How to compute coordination of next node?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pic>
        <p:nvPicPr>
          <p:cNvPr id="43" name="图片 42" descr="路由器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24220" y="4513580"/>
            <a:ext cx="467360" cy="467360"/>
          </a:xfrm>
          <a:prstGeom prst="rect">
            <a:avLst/>
          </a:prstGeom>
        </p:spPr>
      </p:pic>
      <p:pic>
        <p:nvPicPr>
          <p:cNvPr id="44" name="图片 43" descr="电子设备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31635" y="5605145"/>
            <a:ext cx="362585" cy="362585"/>
          </a:xfrm>
          <a:prstGeom prst="rect">
            <a:avLst/>
          </a:prstGeom>
        </p:spPr>
      </p:pic>
      <p:cxnSp>
        <p:nvCxnSpPr>
          <p:cNvPr id="45" name="直接连接符 44"/>
          <p:cNvCxnSpPr>
            <a:stCxn id="43" idx="2"/>
            <a:endCxn id="44" idx="1"/>
          </p:cNvCxnSpPr>
          <p:nvPr/>
        </p:nvCxnSpPr>
        <p:spPr>
          <a:xfrm>
            <a:off x="6057900" y="4980940"/>
            <a:ext cx="673735" cy="8058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" name="直接连接符 45"/>
          <p:cNvCxnSpPr/>
          <p:nvPr/>
        </p:nvCxnSpPr>
        <p:spPr>
          <a:xfrm flipV="1">
            <a:off x="6057900" y="4297680"/>
            <a:ext cx="0" cy="18548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/>
          <p:nvPr/>
        </p:nvSpPr>
        <p:spPr>
          <a:xfrm>
            <a:off x="2334260" y="2143760"/>
            <a:ext cx="7523480" cy="917575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5400" b="1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Thank you for listening</a:t>
            </a:r>
            <a:r>
              <a:rPr lang="zh-CN" altLang="en-US" sz="5400" b="1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！</a:t>
            </a:r>
            <a:endParaRPr lang="en-US" altLang="zh-CN" sz="5400" b="1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DOCER_RESOURCE_TRACE_INFO" val="{&quot;id&quot;:&quot;50039990&quot;,&quot;origin&quot;:0,&quot;type&quot;:&quot;icons&quot;,&quot;user&quot;:&quot;310980984&quot;}"/>
</p:tagLst>
</file>

<file path=ppt/tags/tag16.xml><?xml version="1.0" encoding="utf-8"?>
<p:tagLst xmlns:p="http://schemas.openxmlformats.org/presentationml/2006/main">
  <p:tag name="KSO_DOCER_RESOURCE_TRACE_INFO" val="{&quot;id&quot;:&quot;21557347&quot;,&quot;origin&quot;:0,&quot;type&quot;:&quot;icons&quot;,&quot;user&quot;:&quot;310980984&quot;}"/>
</p:tagLst>
</file>

<file path=ppt/tags/tag17.xml><?xml version="1.0" encoding="utf-8"?>
<p:tagLst xmlns:p="http://schemas.openxmlformats.org/presentationml/2006/main">
  <p:tag name="KSO_DOCER_RESOURCE_TRACE_INFO" val="{&quot;id&quot;:&quot;21557347&quot;,&quot;origin&quot;:0,&quot;type&quot;:&quot;icons&quot;,&quot;user&quot;:&quot;310980984&quot;}"/>
</p:tagLst>
</file>

<file path=ppt/tags/tag18.xml><?xml version="1.0" encoding="utf-8"?>
<p:tagLst xmlns:p="http://schemas.openxmlformats.org/presentationml/2006/main">
  <p:tag name="KSO_DOCER_RESOURCE_TRACE_INFO" val="{&quot;id&quot;:&quot;21557347&quot;,&quot;origin&quot;:0,&quot;type&quot;:&quot;icons&quot;,&quot;user&quot;:&quot;310980984&quot;}"/>
</p:tagLst>
</file>

<file path=ppt/tags/tag19.xml><?xml version="1.0" encoding="utf-8"?>
<p:tagLst xmlns:p="http://schemas.openxmlformats.org/presentationml/2006/main">
  <p:tag name="TABLE_ENDDRAG_ORIGIN_RECT" val="518*158"/>
  <p:tag name="TABLE_ENDDRAG_RECT" val="367*115*518*158"/>
</p:tagLst>
</file>

<file path=ppt/tags/tag20.xml><?xml version="1.0" encoding="utf-8"?>
<p:tagLst xmlns:p="http://schemas.openxmlformats.org/presentationml/2006/main">
  <p:tag name="KSO_DOCER_RESOURCE_TRACE_INFO" val="{&quot;id&quot;:&quot;50039990&quot;,&quot;origin&quot;:0,&quot;type&quot;:&quot;icons&quot;,&quot;user&quot;:&quot;310980984&quot;}"/>
  <p:tag name="KSO_WM_DIAGRAM_VIRTUALLY_FRAME" val="{&quot;height&quot;:157.9,&quot;left&quot;:548.5,&quot;top&quot;:116.8,&quot;width&quot;:371.75}"/>
</p:tagLst>
</file>

<file path=ppt/tags/tag21.xml><?xml version="1.0" encoding="utf-8"?>
<p:tagLst xmlns:p="http://schemas.openxmlformats.org/presentationml/2006/main">
  <p:tag name="KSO_DOCER_RESOURCE_TRACE_INFO" val="{&quot;id&quot;:&quot;50013684&quot;,&quot;origin&quot;:0,&quot;type&quot;:&quot;icons&quot;,&quot;user&quot;:&quot;310980984&quot;}"/>
</p:tagLst>
</file>

<file path=ppt/tags/tag22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3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4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5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6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7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8.xml><?xml version="1.0" encoding="utf-8"?>
<p:tagLst xmlns:p="http://schemas.openxmlformats.org/presentationml/2006/main">
  <p:tag name="KSO_DOCER_RESOURCE_TRACE_INFO" val="{&quot;id&quot;:&quot;50013684&quot;,&quot;origin&quot;:0,&quot;type&quot;:&quot;icons&quot;,&quot;user&quot;:&quot;310980984&quot;}"/>
</p:tagLst>
</file>

<file path=ppt/tags/tag29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33.xml><?xml version="1.0" encoding="utf-8"?>
<p:tagLst xmlns:p="http://schemas.openxmlformats.org/presentationml/2006/main">
  <p:tag name="resource_record_key" val="{&quot;10&quot;:[50039990,21557347,50013684,3643177]}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ma:versionID="52650795bb867722c1cb32d5c9c9a2c6" ma:contentTypeID="0x01010045BC218961C25F459F6AA21946FFBB51" ma:contentTypeDescription="Create a new document." ct:_="" ma:_="" ma:contentTypeScope="" ma:contentTypeName="Document" ma:contentTypeVersion="14">
  <xsd:schema xmlns:xs="http://www.w3.org/2001/XMLSchema" xmlns:ns2="f89c64e8-111c-41f4-bded-6f6d958fe4b3" xmlns:ns3="9dd57d78-cec9-4cdd-9551-44c1fb237173" xmlns:xsd="http://www.w3.org/2001/XMLSchema" xmlns:p="http://schemas.microsoft.com/office/2006/metadata/properties" ma:root="true" ns3:_="" ma:fieldsID="56ffb0fdb1f4cdcf98c4b90ef3fdf45d" ns2:_="" targetNamespace="http://schemas.microsoft.com/office/2006/metadata/properties">
    <xsd:import namespace="f89c64e8-111c-41f4-bded-6f6d958fe4b3"/>
    <xsd:import namespace="9dd57d78-cec9-4cdd-9551-44c1fb237173"/>
    <xsd:element name="properties">
      <xsd:complexType>
        <xsd:sequence>
          <xsd:element name="documentManagement">
            <xsd:complexType>
              <xsd:all>
                <xsd:element minOccurs="0" ref="ns2:MediaServiceMetadata"/>
                <xsd:element minOccurs="0" ref="ns2:MediaServiceFastMetadata"/>
                <xsd:element minOccurs="0" ref="ns2:MediaServiceDateTaken"/>
                <xsd:element minOccurs="0" ref="ns2:MediaServiceAutoTags"/>
                <xsd:element minOccurs="0" ref="ns2:MediaServiceGenerationTime"/>
                <xsd:element minOccurs="0" ref="ns2:MediaServiceEventHashCode"/>
                <xsd:element minOccurs="0" ref="ns2:MediaServiceOCR"/>
                <xsd:element minOccurs="0" ref="ns2:MediaLengthInSeconds"/>
                <xsd:element minOccurs="0" ref="ns2:MediaServiceAutoKeyPoints"/>
                <xsd:element minOccurs="0" ref="ns2:MediaServiceKeyPoints"/>
                <xsd:element minOccurs="0" ref="ns2:lcf76f155ced4ddcb4097134ff3c332f"/>
                <xsd:element minOccurs="0" ref="ns3:TaxCatchAll"/>
                <xsd:element minOccurs="0" ref="ns2:MediaServiceLocation"/>
              </xsd:all>
            </xsd:complexType>
          </xsd:element>
        </xsd:sequence>
      </xsd:complexType>
    </xsd:element>
  </xsd:schema>
  <xsd:schema xmlns:dms="http://schemas.microsoft.com/office/2006/documentManagement/types" xmlns:xs="http://www.w3.org/2001/XMLSchema" xmlns:pc="http://schemas.microsoft.com/office/infopath/2007/PartnerControls" xmlns:xsd="http://www.w3.org/2001/XMLSchema" targetNamespace="f89c64e8-111c-41f4-bded-6f6d958fe4b3" elementFormDefault="qualified">
    <xsd:import namespace="http://schemas.microsoft.com/office/2006/documentManagement/types"/>
    <xsd:import namespace="http://schemas.microsoft.com/office/infopath/2007/PartnerControls"/>
    <xsd:element ma:displayName="MediaServiceMetadata" ma:readOnly="true" ma:internalName="MediaServiceMetadata" name="MediaServiceMetadata" nillable="true" ma:hidden="true" ma:index="8">
      <xsd:simpleType>
        <xsd:restriction base="dms:Note"/>
      </xsd:simpleType>
    </xsd:element>
    <xsd:element ma:displayName="MediaServiceFastMetadata" ma:readOnly="true" ma:internalName="MediaServiceFastMetadata" name="MediaServiceFastMetadata" nillable="true" ma:hidden="true" ma:index="9">
      <xsd:simpleType>
        <xsd:restriction base="dms:Note"/>
      </xsd:simpleType>
    </xsd:element>
    <xsd:element ma:displayName="MediaServiceDateTaken" ma:readOnly="true" ma:internalName="MediaServiceDateTaken" name="MediaServiceDateTaken" nillable="true" ma:hidden="true" ma:index="10">
      <xsd:simpleType>
        <xsd:restriction base="dms:Text"/>
      </xsd:simpleType>
    </xsd:element>
    <xsd:element ma:displayName="Tags" ma:readOnly="true" ma:internalName="MediaServiceAutoTags" name="MediaServiceAutoTags" nillable="true" ma:index="11">
      <xsd:simpleType>
        <xsd:restriction base="dms:Text"/>
      </xsd:simpleType>
    </xsd:element>
    <xsd:element ma:displayName="MediaServiceGenerationTime" ma:readOnly="true" ma:internalName="MediaServiceGenerationTime" name="MediaServiceGenerationTime" nillable="true" ma:hidden="true" ma:index="12">
      <xsd:simpleType>
        <xsd:restriction base="dms:Text"/>
      </xsd:simpleType>
    </xsd:element>
    <xsd:element ma:displayName="MediaServiceEventHashCode" ma:readOnly="true" ma:internalName="MediaServiceEventHashCode" name="MediaServiceEventHashCode" nillable="true" ma:hidden="true" ma:index="13">
      <xsd:simpleType>
        <xsd:restriction base="dms:Text"/>
      </xsd:simpleType>
    </xsd:element>
    <xsd:element ma:displayName="Extracted Text" ma:readOnly="true" ma:internalName="MediaServiceOCR" name="MediaServiceOCR" nillable="true" ma:index="14">
      <xsd:simpleType>
        <xsd:restriction base="dms:Note">
          <xsd:maxLength value="255"/>
        </xsd:restriction>
      </xsd:simpleType>
    </xsd:element>
    <xsd:element ma:displayName="MediaLengthInSeconds" ma:readOnly="true" ma:internalName="MediaLengthInSeconds" name="MediaLengthInSeconds" nillable="true" ma:hidden="true" ma:index="15">
      <xsd:simpleType>
        <xsd:restriction base="dms:Unknown"/>
      </xsd:simpleType>
    </xsd:element>
    <xsd:element ma:displayName="MediaServiceAutoKeyPoints" ma:readOnly="true" ma:internalName="MediaServiceAutoKeyPoints" name="MediaServiceAutoKeyPoints" nillable="true" ma:hidden="true" ma:index="16">
      <xsd:simpleType>
        <xsd:restriction base="dms:Note"/>
      </xsd:simpleType>
    </xsd:element>
    <xsd:element ma:displayName="KeyPoints" ma:readOnly="true" ma:internalName="MediaServiceKeyPoints" name="MediaServiceKeyPoints" nillable="true" ma:index="17">
      <xsd:simpleType>
        <xsd:restriction base="dms:Note">
          <xsd:maxLength value="255"/>
        </xsd:restriction>
      </xsd:simpleType>
    </xsd:element>
    <xsd:element ma:fieldId="{5cf76f15-5ced-4ddc-b409-7134ff3c332f}" ma:taxonomyFieldName="MediaServiceImageTags" ma:anchorId="fba54fb3-c3e1-fe81-a776-ca4b69148c4d" ma:displayName="Image Tags" ma:readOnly="false" ma:isKeyword="false" ma:internalName="lcf76f155ced4ddcb4097134ff3c332f" name="lcf76f155ced4ddcb4097134ff3c332f" ma:taxonomyMulti="true" ma:taxonomy="true" ma:termSetId="09814cd3-568e-fe90-9814-8d621ff8fb84" nillable="true" ma:sspId="e0ba400c-d543-4c24-b70c-40427e126fd3" ma:open="true" ma:index="19">
      <xsd:complexType>
        <xsd:sequence>
          <xsd:element minOccurs="0" ref="pc:Terms" maxOccurs="1"/>
        </xsd:sequence>
      </xsd:complexType>
    </xsd:element>
    <xsd:element ma:displayName="Location" ma:readOnly="true" ma:internalName="MediaServiceLocation" name="MediaServiceLocation" nillable="true" ma:index="21">
      <xsd:simpleType>
        <xsd:restriction base="dms:Text"/>
      </xsd:simpleType>
    </xsd:element>
  </xsd:schema>
  <xsd:schema xmlns:dms="http://schemas.microsoft.com/office/2006/documentManagement/types" xmlns:xs="http://www.w3.org/2001/XMLSchema" xmlns:pc="http://schemas.microsoft.com/office/infopath/2007/PartnerControls" xmlns:xsd="http://www.w3.org/2001/XMLSchema" targetNamespace="9dd57d78-cec9-4cdd-9551-44c1fb237173" elementFormDefault="qualified">
    <xsd:import namespace="http://schemas.microsoft.com/office/2006/documentManagement/types"/>
    <xsd:import namespace="http://schemas.microsoft.com/office/infopath/2007/PartnerControls"/>
    <xsd:element ma:showField="CatchAllData" ma:displayName="Taxonomy Catch All Column" ma:internalName="TaxCatchAll" name="TaxCatchAll" ma:web="9dd57d78-cec9-4cdd-9551-44c1fb237173" nillable="true" ma:hidden="true" ma:list="{92a9e3ce-7aaf-4768-9995-86e3f1f98a48}" ma:index="20">
      <xsd:complexType>
        <xsd:complexContent>
          <xsd:extension base="dms:MultiChoiceLookup">
            <xsd:sequence>
              <xsd:element type="dms:Lookup" minOccurs="0" name="Value" nillable="true" maxOccurs="unbounded"/>
            </xsd:sequence>
          </xsd:extension>
        </xsd:complexContent>
      </xsd:complexType>
    </xsd:element>
  </xsd:schema>
  <xsd:schema xmlns:xsi="http://www.w3.org/2001/XMLSchema-instance" xmlns:dcterms="http://purl.org/dc/terms/" xmlns:odoc="http://schemas.microsoft.com/internal/obd" xmlns="http://schemas.openxmlformats.org/package/2006/metadata/core-properties" xmlns:xsd="http://www.w3.org/2001/XMLSchema" xmlns:dc="http://purl.org/dc/elements/1.1/" attributeFormDefault="unqualified" blockDefault="#all" targetNamespace="http://schemas.openxmlformats.org/package/2006/metadata/core-properties" elementFormDefault="qualified">
    <xsd:import schemaLocation="http://dublincore.org/schemas/xmls/qdc/2003/04/02/dc.xsd" namespace="http://purl.org/dc/elements/1.1/"/>
    <xsd:import schemaLocation="http://dublincore.org/schemas/xmls/qdc/2003/04/02/dcterms.xsd" namespace="http://purl.org/dc/terms/"/>
    <xsd:element type="CT_coreProperties" name="coreProperties"/>
    <xsd:complexType name="CT_coreProperties">
      <xsd:all>
        <xsd:element minOccurs="0" ref="dc:creator" maxOccurs="1"/>
        <xsd:element minOccurs="0" ref="dcterms:created" maxOccurs="1"/>
        <xsd:element minOccurs="0" ref="dc:identifier" maxOccurs="1"/>
        <xsd:element type="xsd:string" minOccurs="0" ma:displayName="Content Type" name="contentType" ma:index="0" maxOccurs="1"/>
        <xsd:element minOccurs="0" ref="dc:title" ma:displayName="Title" ma:index="4" maxOccurs="1"/>
        <xsd:element minOccurs="0" ref="dc:subject" maxOccurs="1"/>
        <xsd:element minOccurs="0" ref="dc:description" maxOccurs="1"/>
        <xsd:element type="xsd:string" minOccurs="0" name="keywords" maxOccurs="1"/>
        <xsd:element minOccurs="0" ref="dc:language" maxOccurs="1"/>
        <xsd:element type="xsd:string" minOccurs="0" name="category" maxOccurs="1"/>
        <xsd:element type="xsd:string" minOccurs="0" name="version" maxOccurs="1"/>
        <xsd:element type="xsd:string" minOccurs="0" name="revision" maxOccurs="1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type="xsd:string" minOccurs="0" name="lastModifiedBy" maxOccurs="1"/>
        <xsd:element minOccurs="0" ref="dcterms:modified" maxOccurs="1"/>
        <xsd:element type="xsd:string" minOccurs="0" name="contentStatus" maxOccurs="1"/>
      </xsd:all>
    </xsd:complexType>
  </xsd:schema>
  <xs:schema xmlns:xs="http://www.w3.org/2001/XMLSchema" xmlns:pc="http://schemas.microsoft.com/office/infopath/2007/PartnerControls" attributeFormDefault="unqualified" targetNamespace="http://schemas.microsoft.com/office/infopath/2007/PartnerControls" elementFormDefault="qualified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type="xs:string" name="DisplayName"/>
    <xs:element type="xs:string" name="AccountId"/>
    <xs:element type="xs:string" name="AccountType"/>
    <xs:element name="BDCAssociatedEntity">
      <xs:complexType>
        <xs:sequence>
          <xs:element minOccurs="0" ref="pc:BDCEntity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type="xs:string" name="EntityNamespace"/>
    <xs:attribute type="xs:string" name="EntityName"/>
    <xs:attribute type="xs:string" name="SystemInstanceName"/>
    <xs:attribute type="xs:string" name="AssociationName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type="xs:string" name="EntityDisplayName"/>
    <xs:element type="xs:string" name="EntityInstanceReference"/>
    <xs:element type="xs:string" name="EntityId1"/>
    <xs:element type="xs:string" name="EntityId2"/>
    <xs:element type="xs:string" name="EntityId3"/>
    <xs:element type="xs:string" name="EntityId4"/>
    <xs:element type="xs:string" name="EntityId5"/>
    <xs:element name="Terms">
      <xs:complexType>
        <xs:sequence>
          <xs:element minOccurs="0" ref="pc:TermInfo" maxOccurs="unbounded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type="xs:string" name="TermName"/>
    <xs:element type="xs:string" name="TermId"/>
  </xs:schema>
</ct:contentTypeSchema>
</file>

<file path=customXml/item2.xml><?xml version="1.0" encoding="utf-8"?>
<p:properties xmlns:xsi="http://www.w3.org/2001/XMLSchema-instance" xmlns:pc="http://schemas.microsoft.com/office/infopath/2007/PartnerControls" xmlns:p="http://schemas.microsoft.com/office/2006/metadata/properties">
  <documentManagement>
    <MediaLengthInSeconds xmlns="f89c64e8-111c-41f4-bded-6f6d958fe4b3" xsi:nil="true"/>
    <lcf76f155ced4ddcb4097134ff3c332f xmlns="f89c64e8-111c-41f4-bded-6f6d958fe4b3">
      <Terms xmlns="http://schemas.microsoft.com/office/infopath/2007/PartnerControls"/>
    </lcf76f155ced4ddcb4097134ff3c332f>
    <TaxCatchAll xmlns="9dd57d78-cec9-4cdd-9551-44c1fb23717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30.xml><?xml version="1.0" encoding="utf-8"?>
<ds:datastoreItem xmlns:ds="http://schemas.openxmlformats.org/officeDocument/2006/customXml" ds:itemID="{FAF196E8-F5B0-48C6-818B-9DED3B3F4B9F}">
  <ds:schemaRefs/>
</ds:datastoreItem>
</file>

<file path=customXml/itemProps31.xml><?xml version="1.0" encoding="utf-8"?>
<ds:datastoreItem xmlns:ds="http://schemas.openxmlformats.org/officeDocument/2006/customXml" ds:itemID="{5A95CB02-FDAC-45C3-9CB4-7E4403C86BD8}">
  <ds:schemaRefs/>
</ds:datastoreItem>
</file>

<file path=customXml/itemProps32.xml><?xml version="1.0" encoding="utf-8"?>
<ds:datastoreItem xmlns:ds="http://schemas.openxmlformats.org/officeDocument/2006/customXml" ds:itemID="{8B561345-5481-4888-8BC1-875739BC27F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1396</Words>
  <Application>WPS 演示</Application>
  <PresentationFormat>Breitbild</PresentationFormat>
  <Paragraphs>130</Paragraphs>
  <Slides>6</Slides>
  <Notes>9</Notes>
  <HiddenSlides>0</HiddenSlides>
  <MMClips>0</MMClips>
  <ScaleCrop>false</ScaleCrop>
  <HeadingPairs>
    <vt:vector size="8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11</vt:i4>
      </vt:variant>
      <vt:variant>
        <vt:lpstr>幻灯片标题</vt:lpstr>
      </vt:variant>
      <vt:variant>
        <vt:i4>6</vt:i4>
      </vt:variant>
    </vt:vector>
  </HeadingPairs>
  <TitlesOfParts>
    <vt:vector size="40" baseType="lpstr">
      <vt:lpstr>Arial</vt:lpstr>
      <vt:lpstr>宋体</vt:lpstr>
      <vt:lpstr>Wingdings</vt:lpstr>
      <vt:lpstr>Times New Roman Regular</vt:lpstr>
      <vt:lpstr>Times New Roman</vt:lpstr>
      <vt:lpstr>Kaiti TC</vt:lpstr>
      <vt:lpstr>Microsoft JhengHei UI</vt:lpstr>
      <vt:lpstr>微软雅黑</vt:lpstr>
      <vt:lpstr>Wingdings</vt:lpstr>
      <vt:lpstr>NimbusRomNo9L-Medi</vt:lpstr>
      <vt:lpstr>Segoe Print</vt:lpstr>
      <vt:lpstr>Times New Roman</vt:lpstr>
      <vt:lpstr>Calibri</vt:lpstr>
      <vt:lpstr>Arial Unicode MS</vt:lpstr>
      <vt:lpstr>等线</vt:lpstr>
      <vt:lpstr>Calibri Light</vt:lpstr>
      <vt:lpstr>等线 Light</vt:lpstr>
      <vt:lpstr>PMingLiU</vt:lpstr>
      <vt:lpstr>Kaiti TC</vt:lpstr>
      <vt:lpstr>NimbusRomNo9L-Medi</vt:lpstr>
      <vt:lpstr>DFHSMincho-W9</vt:lpstr>
      <vt:lpstr>自定义设计方案</vt:lpstr>
      <vt:lpstr>Office Theme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Extracting distance and arrival of angle information from CSI using DL methods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Raven Xiao (HRO)</dc:creator>
  <cp:lastModifiedBy>あ</cp:lastModifiedBy>
  <cp:revision>1092</cp:revision>
  <cp:lastPrinted>2026-05-22T04:58:00Z</cp:lastPrinted>
  <dcterms:created xsi:type="dcterms:W3CDTF">2026-05-22T04:58:00Z</dcterms:created>
  <dcterms:modified xsi:type="dcterms:W3CDTF">2026-07-28T14:53:00Z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0x01010045BC218961C25F459F6AA21946FFBB51</vt:lpwstr>
  </property>
  <property fmtid="{D5CDD505-2E9C-101B-9397-08002B2CF9AE}" pid="3" name="ComplianceAssetId">
    <vt:lpwstr/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MediaServiceImageTags">
    <vt:lpwstr/>
  </property>
  <property fmtid="{D5CDD505-2E9C-101B-9397-08002B2CF9AE}" pid="7" name="ICV">
    <vt:lpwstr>9F889B56FD50491A8DF0563737FEA272_13</vt:lpwstr>
  </property>
  <property fmtid="{D5CDD505-2E9C-101B-9397-08002B2CF9AE}" pid="8" name="KSOProductBuildVer">
    <vt:lpwstr>2052-12.1.0.28043</vt:lpwstr>
  </property>
</Properties>
</file>