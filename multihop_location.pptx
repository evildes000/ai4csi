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6.svg" ContentType="image/svg+xml"/>
  <Override PartName="/ppt/media/image26.svg" ContentType="image/svg+xml"/>
  <Override PartName="/ppt/media/image28.svg" ContentType="image/svg+xml"/>
  <Override PartName="/ppt/media/image43.svg" ContentType="image/svg+xml"/>
  <Override PartName="/ppt/media/image4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8"/>
  </p:handoutMasterIdLst>
  <p:sldIdLst>
    <p:sldId id="259" r:id="rId4"/>
    <p:sldId id="437" r:id="rId6"/>
    <p:sldId id="430" r:id="rId7"/>
    <p:sldId id="438" r:id="rId8"/>
    <p:sldId id="417" r:id="rId9"/>
    <p:sldId id="439" r:id="rId10"/>
    <p:sldId id="440" r:id="rId11"/>
    <p:sldId id="445" r:id="rId12"/>
    <p:sldId id="441" r:id="rId13"/>
    <p:sldId id="442" r:id="rId14"/>
    <p:sldId id="444" r:id="rId15"/>
    <p:sldId id="443" r:id="rId16"/>
    <p:sldId id="436" r:id="rId17"/>
  </p:sldIdLst>
  <p:sldSz cx="12192000" cy="6858000"/>
  <p:notesSz cx="6858000" cy="9144000"/>
  <p:custDataLst>
    <p:tags r:id="rId25"/>
  </p:custDataLst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" id="{B2BC9EAE-0157-4357-A676-E51EB847A72D}">
          <p14:sldIdLst>
            <p14:sldId id="259"/>
            <p14:sldId id="437"/>
            <p14:sldId id="430"/>
            <p14:sldId id="438"/>
            <p14:sldId id="417"/>
            <p14:sldId id="439"/>
            <p14:sldId id="440"/>
            <p14:sldId id="445"/>
            <p14:sldId id="441"/>
            <p14:sldId id="442"/>
            <p14:sldId id="444"/>
            <p14:sldId id="443"/>
            <p14:sldId id="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76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613B"/>
    <a:srgbClr val="81184B"/>
    <a:srgbClr val="FEFEFE"/>
    <a:srgbClr val="DEE0EC"/>
    <a:srgbClr val="BF22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38"/>
    <p:restoredTop sz="96106"/>
  </p:normalViewPr>
  <p:slideViewPr>
    <p:cSldViewPr snapToGrid="0" showGuides="1">
      <p:cViewPr varScale="1">
        <p:scale>
          <a:sx n="78" d="100"/>
          <a:sy n="78" d="100"/>
        </p:scale>
        <p:origin x="360" y="72"/>
      </p:cViewPr>
      <p:guideLst>
        <p:guide orient="horz" pos="2276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37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7" Type="http://schemas.openxmlformats.org/officeDocument/2006/relationships/image" Target="../media/image3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0B123-7999-4963-9C28-D9458969A4BD}" type="datetimeFigureOut">
              <a:rPr lang="zh-HK" altLang="en-US" smtClean="0"/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14D76-408F-4EB6-94FA-D4C93054791C}" type="slidenum">
              <a:rPr lang="zh-HK" altLang="en-US" smtClean="0"/>
            </a:fld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14D76-408F-4EB6-94FA-D4C93054791C}" type="slidenum">
              <a:rPr lang="zh-HK" altLang="en-US" smtClean="0"/>
            </a:fld>
            <a:endParaRPr lang="zh-HK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dirty="0"/>
              <a:t>Our network architecture contains three components: </a:t>
            </a:r>
            <a:endParaRPr lang="en-US" altLang="en-US" dirty="0"/>
          </a:p>
          <a:p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Trusted Authority (TA), Roadside Units and on-Board Units, which are for initialization and credentials, infrastructure and time synchronization, broadcasting safety messages, respectively.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dirty="0"/>
              <a:t>For communcation model,  V2X employs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one-to-many broadcasting without acknowledgment, via RSUs synchronized time slot 10ms, Vehicles derive authentication keys from a master seed per epoch, 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BOOT frames with signatures for trust establishment and DATA frames with symmetric authentication.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dirty="0"/>
              <a:t>Our network architecture contains three components: </a:t>
            </a:r>
            <a:endParaRPr lang="en-US" altLang="en-US" dirty="0"/>
          </a:p>
          <a:p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Trusted Authority (TA), Roadside Units and on-Board Units, which are for initialization and credentials, infrastructure and time synchronization, broadcasting safety messages, respectively.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dirty="0"/>
              <a:t>For communcation model,  V2X employs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one-to-many broadcasting without acknowledgment, via RSUs synchronized time slot 10ms, Vehicles derive authentication keys from a master seed per epoch, 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BOOT frames with signatures for trust establishment and DATA frames with symmetric authentication.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 dirty="0"/>
              <a:t>Our network architecture contains three components: </a:t>
            </a:r>
            <a:endParaRPr lang="en-US" altLang="en-US" dirty="0"/>
          </a:p>
          <a:p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Trusted Authority (TA), Roadside Units and on-Board Units, which are for initialization and credentials, infrastructure and time synchronization, broadcasting safety messages, respectively.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en-US" dirty="0"/>
              <a:t>For communcation model,  V2X employs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one-to-many broadcasting without acknowledgment, via RSUs synchronized time slot 10ms, Vehicles derive authentication keys from a master seed per epoch, 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charset="0"/>
                <a:ea typeface="NimbusRomNo9L-Medi"/>
                <a:cs typeface="Times New Roman" panose="02020603050405020304" charset="0"/>
                <a:sym typeface="+mn-ea"/>
              </a:rPr>
              <a:t>BOOT frames with signatures for trust establishment and DATA frames with symmetric authentication.</a:t>
            </a: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  <a:sym typeface="+mn-ea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zh-CN">
              <a:solidFill>
                <a:srgbClr val="000000"/>
              </a:solidFill>
              <a:latin typeface="Times New Roman" panose="02020603050405020304" charset="0"/>
              <a:ea typeface="NimbusRomNo9L-Medi"/>
              <a:cs typeface="Times New Roman" panose="02020603050405020304" charset="0"/>
            </a:endParaRPr>
          </a:p>
          <a:p>
            <a:pPr lvl="0" indent="0">
              <a:buFont typeface="Arial" panose="020B0604020202020204" pitchFamily="34" charset="0"/>
              <a:buNone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Vehicle-to-Everying(V2X) communication has very high standards for safety. To guarantee road safety, messages must be verified within 100ms. But there threee “security-efficieny dilemma”for current authentication methods:</a:t>
            </a:r>
            <a:endParaRPr lang="en-US" altLang="en-US"/>
          </a:p>
          <a:p>
            <a:endParaRPr lang="zh-CN" altLang="en-US"/>
          </a:p>
          <a:p>
            <a:r>
              <a:rPr lang="en-US" altLang="zh-CN"/>
              <a:t>ECDSA method can provide strong security and non-repudiation but require 2ms to compute verification, this can be bottlenecks in dense traffic</a:t>
            </a:r>
            <a:endParaRPr lang="en-US" altLang="zh-CN"/>
          </a:p>
          <a:p>
            <a:r>
              <a:rPr lang="en-US" altLang="zh-CN"/>
              <a:t>In comparsion with ECDSA method, TESLA method is more computationally effiecient, but it has “key disclosure delay”,which is from 20ms to 100ms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fact shows a gap, that is,  V2X communication requires </a:t>
            </a:r>
            <a:r>
              <a:rPr lang="en-US" altLang="zh-CN">
                <a:sym typeface="+mn-ea"/>
              </a:rPr>
              <a:t>immediate verification, but</a:t>
            </a:r>
            <a:r>
              <a:rPr lang="en-US" altLang="zh-CN"/>
              <a:t> the existing hybrid schemes are not able to provide high rates of immediate verification, it only provide about 1% immediate verification for non-signed messages.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Vehicle-to-Everying(V2X) communication has very high standards for safety. To guarantee road safety, messages must be verified within 100ms. But there threee “security-efficieny dilemma”for current authentication methods:</a:t>
            </a:r>
            <a:endParaRPr lang="en-US" altLang="en-US"/>
          </a:p>
          <a:p>
            <a:endParaRPr lang="zh-CN" altLang="en-US"/>
          </a:p>
          <a:p>
            <a:r>
              <a:rPr lang="en-US" altLang="zh-CN"/>
              <a:t>ECDSA method can provide strong security and non-repudiation but require 2ms to compute verification, this can be bottlenecks in dense traffic</a:t>
            </a:r>
            <a:endParaRPr lang="en-US" altLang="zh-CN"/>
          </a:p>
          <a:p>
            <a:r>
              <a:rPr lang="en-US" altLang="zh-CN"/>
              <a:t>In comparsion with ECDSA method, TESLA method is more computationally effiecient, but it has “key disclosure delay”,which is from 20ms to 100ms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fact shows a gap, that is,  V2X communication requires </a:t>
            </a:r>
            <a:r>
              <a:rPr lang="en-US" altLang="zh-CN">
                <a:sym typeface="+mn-ea"/>
              </a:rPr>
              <a:t>immediate verification, but</a:t>
            </a:r>
            <a:r>
              <a:rPr lang="en-US" altLang="zh-CN"/>
              <a:t> the existing hybrid schemes are not able to provide high rates of immediate verification, it only provide about 1% immediate verification for non-signed messages.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Vehicle-to-Everying(V2X) communication has very high standards for safety. To guarantee road safety, messages must be verified within 100ms. But there threee “security-efficieny dilemma”for current authentication methods:</a:t>
            </a:r>
            <a:endParaRPr lang="en-US" altLang="en-US"/>
          </a:p>
          <a:p>
            <a:endParaRPr lang="zh-CN" altLang="en-US"/>
          </a:p>
          <a:p>
            <a:r>
              <a:rPr lang="en-US" altLang="zh-CN"/>
              <a:t>ECDSA method can provide strong security and non-repudiation but require 2ms to compute verification, this can be bottlenecks in dense traffic</a:t>
            </a:r>
            <a:endParaRPr lang="en-US" altLang="zh-CN"/>
          </a:p>
          <a:p>
            <a:r>
              <a:rPr lang="en-US" altLang="zh-CN"/>
              <a:t>In comparsion with ECDSA method, TESLA method is more computationally effiecient, but it has “key disclosure delay”,which is from 20ms to 100ms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fact shows a gap, that is,  V2X communication requires </a:t>
            </a:r>
            <a:r>
              <a:rPr lang="en-US" altLang="zh-CN">
                <a:sym typeface="+mn-ea"/>
              </a:rPr>
              <a:t>immediate verification, but</a:t>
            </a:r>
            <a:r>
              <a:rPr lang="en-US" altLang="zh-CN"/>
              <a:t> the existing hybrid schemes are not able to provide high rates of immediate verification, it only provide about 1% immediate verification for non-signed messages.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Vehicle-to-Everying(V2X) communication has very high standards for safety. To guarantee road safety, messages must be verified within 100ms. But there threee “security-efficieny dilemma”for current authentication methods:</a:t>
            </a:r>
            <a:endParaRPr lang="en-US" altLang="en-US"/>
          </a:p>
          <a:p>
            <a:endParaRPr lang="zh-CN" altLang="en-US"/>
          </a:p>
          <a:p>
            <a:r>
              <a:rPr lang="en-US" altLang="zh-CN"/>
              <a:t>ECDSA method can provide strong security and non-repudiation but require 2ms to compute verification, this can be bottlenecks in dense traffic</a:t>
            </a:r>
            <a:endParaRPr lang="en-US" altLang="zh-CN"/>
          </a:p>
          <a:p>
            <a:r>
              <a:rPr lang="en-US" altLang="zh-CN"/>
              <a:t>In comparsion with ECDSA method, TESLA method is more computationally effiecient, but it has “key disclosure delay”,which is from 20ms to 100ms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fact shows a gap, that is,  V2X communication requires </a:t>
            </a:r>
            <a:r>
              <a:rPr lang="en-US" altLang="zh-CN">
                <a:sym typeface="+mn-ea"/>
              </a:rPr>
              <a:t>immediate verification, but</a:t>
            </a:r>
            <a:r>
              <a:rPr lang="en-US" altLang="zh-CN"/>
              <a:t> the existing hybrid schemes are not able to provide high rates of immediate verification, it only provide about 1% immediate verification for non-signed messages.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Vehicle-to-Everying(V2X) communication has very high standards for safety. To guarantee road safety, messages must be verified within 100ms. But there threee “security-efficieny dilemma”for current authentication methods:</a:t>
            </a:r>
            <a:endParaRPr lang="en-US" altLang="en-US"/>
          </a:p>
          <a:p>
            <a:endParaRPr lang="zh-CN" altLang="en-US"/>
          </a:p>
          <a:p>
            <a:r>
              <a:rPr lang="en-US" altLang="zh-CN"/>
              <a:t>ECDSA method can provide strong security and non-repudiation but require 2ms to compute verification, this can be bottlenecks in dense traffic</a:t>
            </a:r>
            <a:endParaRPr lang="en-US" altLang="zh-CN"/>
          </a:p>
          <a:p>
            <a:r>
              <a:rPr lang="en-US" altLang="zh-CN"/>
              <a:t>In comparsion with ECDSA method, TESLA method is more computationally effiecient, but it has “key disclosure delay”,which is from 20ms to 100ms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fact shows a gap, that is,  V2X communication requires </a:t>
            </a:r>
            <a:r>
              <a:rPr lang="en-US" altLang="zh-CN">
                <a:sym typeface="+mn-ea"/>
              </a:rPr>
              <a:t>immediate verification, but</a:t>
            </a:r>
            <a:r>
              <a:rPr lang="en-US" altLang="zh-CN"/>
              <a:t> the existing hybrid schemes are not able to provide high rates of immediate verification, it only provide about 1% immediate verification for non-signed messages.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Vehicle-to-Everying(V2X) communication has very high standards for safety. To guarantee road safety, messages must be verified within 100ms. But there threee “security-efficieny dilemma”for current authentication methods:</a:t>
            </a:r>
            <a:endParaRPr lang="en-US" altLang="en-US"/>
          </a:p>
          <a:p>
            <a:endParaRPr lang="zh-CN" altLang="en-US"/>
          </a:p>
          <a:p>
            <a:r>
              <a:rPr lang="en-US" altLang="zh-CN"/>
              <a:t>ECDSA method can provide strong security and non-repudiation but require 2ms to compute verification, this can be bottlenecks in dense traffic</a:t>
            </a:r>
            <a:endParaRPr lang="en-US" altLang="zh-CN"/>
          </a:p>
          <a:p>
            <a:r>
              <a:rPr lang="en-US" altLang="zh-CN"/>
              <a:t>In comparsion with ECDSA method, TESLA method is more computationally effiecient, but it has “key disclosure delay”,which is from 20ms to 100ms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fact shows a gap, that is,  V2X communication requires </a:t>
            </a:r>
            <a:r>
              <a:rPr lang="en-US" altLang="zh-CN">
                <a:sym typeface="+mn-ea"/>
              </a:rPr>
              <a:t>immediate verification, but</a:t>
            </a:r>
            <a:r>
              <a:rPr lang="en-US" altLang="zh-CN"/>
              <a:t> the existing hybrid schemes are not able to provide high rates of immediate verification, it only provide about 1% immediate verification for non-signed messages.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Vehicle-to-Everying(V2X) communication has very high standards for safety. To guarantee road safety, messages must be verified within 100ms. But there threee “security-efficieny dilemma”for current authentication methods:</a:t>
            </a:r>
            <a:endParaRPr lang="en-US" altLang="en-US"/>
          </a:p>
          <a:p>
            <a:endParaRPr lang="zh-CN" altLang="en-US"/>
          </a:p>
          <a:p>
            <a:r>
              <a:rPr lang="en-US" altLang="zh-CN"/>
              <a:t>ECDSA method can provide strong security and non-repudiation but require 2ms to compute verification, this can be bottlenecks in dense traffic</a:t>
            </a:r>
            <a:endParaRPr lang="en-US" altLang="zh-CN"/>
          </a:p>
          <a:p>
            <a:r>
              <a:rPr lang="en-US" altLang="zh-CN"/>
              <a:t>In comparsion with ECDSA method, TESLA method is more computationally effiecient, but it has “key disclosure delay”,which is from 20ms to 100ms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fact shows a gap, that is,  V2X communication requires </a:t>
            </a:r>
            <a:r>
              <a:rPr lang="en-US" altLang="zh-CN">
                <a:sym typeface="+mn-ea"/>
              </a:rPr>
              <a:t>immediate verification, but</a:t>
            </a:r>
            <a:r>
              <a:rPr lang="en-US" altLang="zh-CN"/>
              <a:t> the existing hybrid schemes are not able to provide high rates of immediate verification, it only provide about 1% immediate verification for non-signed messages.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Vehicle-to-Everying(V2X) communication has very high standards for safety. To guarantee road safety, messages must be verified within 100ms. But there threee “security-efficieny dilemma”for current authentication methods:</a:t>
            </a:r>
            <a:endParaRPr lang="en-US" altLang="en-US"/>
          </a:p>
          <a:p>
            <a:endParaRPr lang="zh-CN" altLang="en-US"/>
          </a:p>
          <a:p>
            <a:r>
              <a:rPr lang="en-US" altLang="zh-CN"/>
              <a:t>ECDSA method can provide strong security and non-repudiation but require 2ms to compute verification, this can be bottlenecks in dense traffic</a:t>
            </a:r>
            <a:endParaRPr lang="en-US" altLang="zh-CN"/>
          </a:p>
          <a:p>
            <a:r>
              <a:rPr lang="en-US" altLang="zh-CN"/>
              <a:t>In comparsion with ECDSA method, TESLA method is more computationally effiecient, but it has “key disclosure delay”,which is from 20ms to 100ms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So the fact shows a gap, that is,  V2X communication requires </a:t>
            </a:r>
            <a:r>
              <a:rPr lang="en-US" altLang="zh-CN">
                <a:sym typeface="+mn-ea"/>
              </a:rPr>
              <a:t>immediate verification, but</a:t>
            </a:r>
            <a:r>
              <a:rPr lang="en-US" altLang="zh-CN"/>
              <a:t> the existing hybrid schemes are not able to provide high rates of immediate verification, it only provide about 1% immediate verification for non-signed messages.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Thank you for your listening.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jpeg"/><Relationship Id="rId4" Type="http://schemas.openxmlformats.org/officeDocument/2006/relationships/tags" Target="../tags/tag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jpeg"/><Relationship Id="rId5" Type="http://schemas.openxmlformats.org/officeDocument/2006/relationships/tags" Target="../tags/tag4.xml"/><Relationship Id="rId4" Type="http://schemas.openxmlformats.org/officeDocument/2006/relationships/image" Target="../media/image4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jpeg"/><Relationship Id="rId6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tags" Target="../tags/tag5.xml"/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299210" y="1061720"/>
            <a:ext cx="8129905" cy="2773045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CityUHK(DG)_30th_Logo_Horizontal_CMYK_2404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6225" y="1277620"/>
            <a:ext cx="7595870" cy="2620010"/>
          </a:xfrm>
          <a:prstGeom prst="rect">
            <a:avLst/>
          </a:prstGeom>
        </p:spPr>
      </p:pic>
      <p:pic>
        <p:nvPicPr>
          <p:cNvPr id="11" name="图片 10" descr="11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r="4988"/>
          <a:stretch>
            <a:fillRect/>
          </a:stretch>
        </p:blipFill>
        <p:spPr>
          <a:xfrm>
            <a:off x="170180" y="6129655"/>
            <a:ext cx="5358130" cy="5226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10095865" y="222885"/>
            <a:ext cx="1766570" cy="1353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58705" y="46990"/>
            <a:ext cx="2040890" cy="17405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pic>
        <p:nvPicPr>
          <p:cNvPr id="11" name="图片 10" descr="11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CityUHK(DG)_30th_Logo_Horizontal_CMYK_2404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1455" y="19050"/>
            <a:ext cx="4086225" cy="1409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635"/>
            <a:ext cx="8915400" cy="3716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 descr="CityUHK(DG)_30th_Logo_Horizontal_CMYK_24043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6855" y="52705"/>
            <a:ext cx="3933190" cy="1356995"/>
          </a:xfrm>
          <a:prstGeom prst="rect">
            <a:avLst/>
          </a:prstGeom>
        </p:spPr>
      </p:pic>
      <p:pic>
        <p:nvPicPr>
          <p:cNvPr id="11" name="图片 10" descr="11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r="4988"/>
          <a:stretch>
            <a:fillRect/>
          </a:stretch>
        </p:blipFill>
        <p:spPr>
          <a:xfrm>
            <a:off x="170180" y="6129655"/>
            <a:ext cx="5358130" cy="5226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10" name="图片 9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/>
        </p:nvPicPr>
        <p:blipFill>
          <a:blip r:embed="rId2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82FB2-2831-44D1-A5B4-0CE63F7731EA}" type="slidenum">
              <a:rPr lang="en-US" smtClean="0"/>
            </a:fld>
            <a:endParaRPr lang="en-US"/>
          </a:p>
        </p:txBody>
      </p:sp>
      <p:pic>
        <p:nvPicPr>
          <p:cNvPr id="8" name="图片 7" descr="11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image" Target="../media/image3.jpeg"/><Relationship Id="rId15" Type="http://schemas.openxmlformats.org/officeDocument/2006/relationships/tags" Target="../tags/tag14.xml"/><Relationship Id="rId14" Type="http://schemas.openxmlformats.org/officeDocument/2006/relationships/image" Target="../media/image4.png"/><Relationship Id="rId13" Type="http://schemas.openxmlformats.org/officeDocument/2006/relationships/tags" Target="../tags/tag13.xml"/><Relationship Id="rId12" Type="http://schemas.openxmlformats.org/officeDocument/2006/relationships/image" Target="../media/image7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A5968-7924-49D8-88CD-FA7E81AC999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9006B-C36D-469B-BC9D-B7B8D1DFA98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EB2BF-A955-47D0-A9EC-E77B3ABB2B5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82FB2-2831-44D1-A5B4-0CE63F7731EA}" type="slidenum">
              <a:rPr lang="en-US" smtClean="0"/>
            </a:fld>
            <a:endParaRPr lang="en-US"/>
          </a:p>
        </p:txBody>
      </p:sp>
      <p:sp>
        <p:nvSpPr>
          <p:cNvPr id="7" name="矩形 6"/>
          <p:cNvSpPr/>
          <p:nvPr userDrawn="1">
            <p:custDataLst>
              <p:tags r:id="rId13"/>
            </p:custDataLst>
          </p:nvPr>
        </p:nvSpPr>
        <p:spPr>
          <a:xfrm>
            <a:off x="10095865" y="222885"/>
            <a:ext cx="1766570" cy="1353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58705" y="46990"/>
            <a:ext cx="2040890" cy="174053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11" name="图片 10" descr="112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rcRect r="4988"/>
          <a:stretch>
            <a:fillRect/>
          </a:stretch>
        </p:blipFill>
        <p:spPr>
          <a:xfrm>
            <a:off x="46355" y="6318250"/>
            <a:ext cx="4414520" cy="4305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rgbClr val="DD613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oleObject" Target="../embeddings/oleObject3.bin"/><Relationship Id="rId7" Type="http://schemas.openxmlformats.org/officeDocument/2006/relationships/image" Target="../media/image12.w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5" Type="http://schemas.openxmlformats.org/officeDocument/2006/relationships/notesSlide" Target="../notesSlides/notesSlide2.xml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5.bin"/><Relationship Id="rId10" Type="http://schemas.openxmlformats.org/officeDocument/2006/relationships/image" Target="../media/image13.wmf"/><Relationship Id="rId1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wmf"/><Relationship Id="rId8" Type="http://schemas.openxmlformats.org/officeDocument/2006/relationships/oleObject" Target="../embeddings/oleObject7.bin"/><Relationship Id="rId7" Type="http://schemas.openxmlformats.org/officeDocument/2006/relationships/image" Target="../media/image17.wmf"/><Relationship Id="rId6" Type="http://schemas.openxmlformats.org/officeDocument/2006/relationships/oleObject" Target="../embeddings/oleObject6.bin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16.svg"/><Relationship Id="rId21" Type="http://schemas.openxmlformats.org/officeDocument/2006/relationships/notesSlide" Target="../notesSlides/notesSlide3.xml"/><Relationship Id="rId20" Type="http://schemas.openxmlformats.org/officeDocument/2006/relationships/vmlDrawing" Target="../drawings/vmlDrawing2.vml"/><Relationship Id="rId2" Type="http://schemas.openxmlformats.org/officeDocument/2006/relationships/image" Target="../media/image15.png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19.xml"/><Relationship Id="rId17" Type="http://schemas.openxmlformats.org/officeDocument/2006/relationships/image" Target="../media/image22.wmf"/><Relationship Id="rId16" Type="http://schemas.openxmlformats.org/officeDocument/2006/relationships/oleObject" Target="../embeddings/oleObject11.bin"/><Relationship Id="rId15" Type="http://schemas.openxmlformats.org/officeDocument/2006/relationships/image" Target="../media/image21.wmf"/><Relationship Id="rId14" Type="http://schemas.openxmlformats.org/officeDocument/2006/relationships/oleObject" Target="../embeddings/oleObject10.bin"/><Relationship Id="rId13" Type="http://schemas.openxmlformats.org/officeDocument/2006/relationships/image" Target="../media/image20.wmf"/><Relationship Id="rId12" Type="http://schemas.openxmlformats.org/officeDocument/2006/relationships/oleObject" Target="../embeddings/oleObject9.bin"/><Relationship Id="rId11" Type="http://schemas.openxmlformats.org/officeDocument/2006/relationships/image" Target="../media/image19.wmf"/><Relationship Id="rId10" Type="http://schemas.openxmlformats.org/officeDocument/2006/relationships/oleObject" Target="../embeddings/oleObject8.bin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tags" Target="../tags/tag22.xml"/><Relationship Id="rId4" Type="http://schemas.openxmlformats.org/officeDocument/2006/relationships/image" Target="../media/image26.svg"/><Relationship Id="rId34" Type="http://schemas.openxmlformats.org/officeDocument/2006/relationships/notesSlide" Target="../notesSlides/notesSlide5.xml"/><Relationship Id="rId33" Type="http://schemas.openxmlformats.org/officeDocument/2006/relationships/vmlDrawing" Target="../drawings/vmlDrawing3.vml"/><Relationship Id="rId32" Type="http://schemas.openxmlformats.org/officeDocument/2006/relationships/slideLayout" Target="../slideLayouts/slideLayout13.xml"/><Relationship Id="rId31" Type="http://schemas.openxmlformats.org/officeDocument/2006/relationships/image" Target="../media/image36.wmf"/><Relationship Id="rId30" Type="http://schemas.openxmlformats.org/officeDocument/2006/relationships/oleObject" Target="../embeddings/oleObject19.bin"/><Relationship Id="rId3" Type="http://schemas.openxmlformats.org/officeDocument/2006/relationships/image" Target="../media/image25.png"/><Relationship Id="rId29" Type="http://schemas.openxmlformats.org/officeDocument/2006/relationships/image" Target="../media/image35.wmf"/><Relationship Id="rId28" Type="http://schemas.openxmlformats.org/officeDocument/2006/relationships/oleObject" Target="../embeddings/oleObject18.bin"/><Relationship Id="rId27" Type="http://schemas.openxmlformats.org/officeDocument/2006/relationships/image" Target="../media/image34.wmf"/><Relationship Id="rId26" Type="http://schemas.openxmlformats.org/officeDocument/2006/relationships/oleObject" Target="../embeddings/oleObject17.bin"/><Relationship Id="rId25" Type="http://schemas.openxmlformats.org/officeDocument/2006/relationships/image" Target="../media/image33.wmf"/><Relationship Id="rId24" Type="http://schemas.openxmlformats.org/officeDocument/2006/relationships/oleObject" Target="../embeddings/oleObject16.bin"/><Relationship Id="rId23" Type="http://schemas.openxmlformats.org/officeDocument/2006/relationships/image" Target="../media/image32.wmf"/><Relationship Id="rId22" Type="http://schemas.openxmlformats.org/officeDocument/2006/relationships/oleObject" Target="../embeddings/oleObject15.bin"/><Relationship Id="rId21" Type="http://schemas.openxmlformats.org/officeDocument/2006/relationships/image" Target="../media/image31.wmf"/><Relationship Id="rId20" Type="http://schemas.openxmlformats.org/officeDocument/2006/relationships/oleObject" Target="../embeddings/oleObject14.bin"/><Relationship Id="rId2" Type="http://schemas.openxmlformats.org/officeDocument/2006/relationships/tags" Target="../tags/tag21.xml"/><Relationship Id="rId19" Type="http://schemas.openxmlformats.org/officeDocument/2006/relationships/image" Target="../media/image30.wmf"/><Relationship Id="rId18" Type="http://schemas.openxmlformats.org/officeDocument/2006/relationships/oleObject" Target="../embeddings/oleObject13.bin"/><Relationship Id="rId17" Type="http://schemas.openxmlformats.org/officeDocument/2006/relationships/image" Target="../media/image29.wmf"/><Relationship Id="rId16" Type="http://schemas.openxmlformats.org/officeDocument/2006/relationships/oleObject" Target="../embeddings/oleObject12.bin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wmf"/><Relationship Id="rId8" Type="http://schemas.openxmlformats.org/officeDocument/2006/relationships/oleObject" Target="../embeddings/oleObject23.bin"/><Relationship Id="rId7" Type="http://schemas.openxmlformats.org/officeDocument/2006/relationships/image" Target="../media/image39.wmf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1.bin"/><Relationship Id="rId3" Type="http://schemas.openxmlformats.org/officeDocument/2006/relationships/image" Target="../media/image37.wmf"/><Relationship Id="rId2" Type="http://schemas.openxmlformats.org/officeDocument/2006/relationships/oleObject" Target="../embeddings/oleObject20.bin"/><Relationship Id="rId14" Type="http://schemas.openxmlformats.org/officeDocument/2006/relationships/notesSlide" Target="../notesSlides/notesSlide6.xml"/><Relationship Id="rId13" Type="http://schemas.openxmlformats.org/officeDocument/2006/relationships/vmlDrawing" Target="../drawings/vmlDrawing4.vml"/><Relationship Id="rId12" Type="http://schemas.openxmlformats.org/officeDocument/2006/relationships/slideLayout" Target="../slideLayouts/slideLayout13.xml"/><Relationship Id="rId11" Type="http://schemas.openxmlformats.org/officeDocument/2006/relationships/image" Target="../media/image41.wmf"/><Relationship Id="rId10" Type="http://schemas.openxmlformats.org/officeDocument/2006/relationships/oleObject" Target="../embeddings/oleObject24.bin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46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2.png"/><Relationship Id="rId2" Type="http://schemas.openxmlformats.org/officeDocument/2006/relationships/tags" Target="../tags/tag32.xml"/><Relationship Id="rId1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33.xml"/><Relationship Id="rId2" Type="http://schemas.openxmlformats.org/officeDocument/2006/relationships/image" Target="../media/image53.png"/><Relationship Id="rId1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660" y="1280795"/>
            <a:ext cx="9336405" cy="1940560"/>
          </a:xfrm>
        </p:spPr>
        <p:txBody>
          <a:bodyPr>
            <a:noAutofit/>
          </a:bodyPr>
          <a:lstStyle/>
          <a:p>
            <a:pPr algn="l"/>
            <a:r>
              <a:rPr lang="en-US" altLang="zh-CN" sz="4400" dirty="0">
                <a:solidFill>
                  <a:srgbClr val="DD613B"/>
                </a:solidFill>
                <a:latin typeface="Times New Roman Regular" panose="02020503050405090304" charset="0"/>
                <a:ea typeface="Kaiti TC" panose="02010600040101010101" pitchFamily="2" charset="-120"/>
                <a:cs typeface="Times New Roman Regular" panose="02020503050405090304" charset="0"/>
              </a:rPr>
              <a:t>Multihop Sidelink In-door Loca</a:t>
            </a:r>
            <a:r>
              <a:rPr lang="en-US" altLang="zh-CN" sz="4400" dirty="0">
                <a:solidFill>
                  <a:srgbClr val="DD613B"/>
                </a:solidFill>
                <a:latin typeface="Times New Roman Regular" panose="02020503050405090304" charset="0"/>
                <a:ea typeface="Kaiti TC" panose="02010600040101010101" pitchFamily="2" charset="-120"/>
                <a:cs typeface="Times New Roman Regular" panose="02020503050405090304" charset="0"/>
              </a:rPr>
              <a:t>tion Using Wi-Fi CSI</a:t>
            </a:r>
            <a:endParaRPr lang="en-US" altLang="zh-CN" sz="4400" dirty="0">
              <a:solidFill>
                <a:srgbClr val="DD613B"/>
              </a:solidFill>
              <a:latin typeface="Times New Roman Regular" panose="02020503050405090304" charset="0"/>
              <a:ea typeface="Kaiti TC" panose="02010600040101010101" pitchFamily="2" charset="-12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5601335" y="1764030"/>
            <a:ext cx="3305175" cy="291084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6238875" y="2256790"/>
            <a:ext cx="2061210" cy="192532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6445250" y="2482215"/>
            <a:ext cx="1617345" cy="15049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Title 2"/>
          <p:cNvSpPr txBox="1"/>
          <p:nvPr/>
        </p:nvSpPr>
        <p:spPr>
          <a:xfrm>
            <a:off x="299720" y="516255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Dataset Prepare </a:t>
            </a:r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6070" y="1483360"/>
            <a:ext cx="5358130" cy="226250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Training Dataset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Distance Range: 1~50m.   Distance Interval: 2m.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Angle Range: 0~350</a:t>
            </a:r>
            <a:r>
              <a:rPr lang="zh-CN" altLang="en-US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°</a:t>
            </a: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.       Angle Interval: 10</a:t>
            </a:r>
            <a:r>
              <a:rPr lang="zh-CN" altLang="en-US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°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Testing Dataset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Distance Range: 2~50m.   Distance Interval: 2m.</a:t>
            </a:r>
            <a:endParaRPr lang="en-US" altLang="zh-CN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Angle Range: 5~350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°</a:t>
            </a:r>
            <a:r>
              <a:rPr lang="en-US" altLang="zh-CN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.       Angle Interval: 10</a:t>
            </a:r>
            <a:r>
              <a:rPr lang="zh-CN" altLang="en-US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°</a:t>
            </a: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zh-CN" altLang="en-US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Two Scenarios for Training and Testing Dataset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Without Wall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 Wall: Wall Loss [0, 90] dB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Confidence: [1.0, 0.1] corresponding to Wall Loss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>
              <a:buFont typeface="Wingdings" panose="05000000000000000000" charset="0"/>
              <a:buNone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6718300" y="2723515"/>
            <a:ext cx="1071880" cy="102235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355080" y="2081530"/>
            <a:ext cx="229235" cy="27876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7268210" y="1759585"/>
            <a:ext cx="6985" cy="1455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268210" y="1483360"/>
            <a:ext cx="438150" cy="16192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900">
                <a:latin typeface="Arial" panose="020B0604020202020204" pitchFamily="34" charset="0"/>
                <a:ea typeface="微软雅黑" panose="020B0503020204020204" charset="-122"/>
              </a:rPr>
              <a:t>50 m</a:t>
            </a:r>
            <a:endParaRPr lang="en-US" altLang="zh-CN" sz="9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965950" y="3151505"/>
            <a:ext cx="438150" cy="1663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900">
                <a:latin typeface="Arial" panose="020B0604020202020204" pitchFamily="34" charset="0"/>
                <a:ea typeface="微软雅黑" panose="020B0503020204020204" charset="-122"/>
              </a:rPr>
              <a:t>0 m</a:t>
            </a:r>
            <a:endParaRPr lang="en-US" altLang="zh-CN" sz="9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7790180" y="2360295"/>
            <a:ext cx="75565" cy="7556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877810" y="2770505"/>
            <a:ext cx="75565" cy="7556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路由器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9015" y="3164205"/>
            <a:ext cx="153670" cy="153670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 flipH="1">
            <a:off x="7451725" y="2548255"/>
            <a:ext cx="95250" cy="231140"/>
          </a:xfrm>
          <a:prstGeom prst="straightConnector1">
            <a:avLst/>
          </a:prstGeom>
          <a:ln>
            <a:solidFill>
              <a:schemeClr val="accent2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7268210" y="2195195"/>
            <a:ext cx="1672590" cy="101981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7275195" y="1725930"/>
            <a:ext cx="1026795" cy="148907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弧形 19"/>
          <p:cNvSpPr/>
          <p:nvPr/>
        </p:nvSpPr>
        <p:spPr>
          <a:xfrm>
            <a:off x="7723505" y="1901825"/>
            <a:ext cx="951865" cy="781050"/>
          </a:xfrm>
          <a:prstGeom prst="arc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86470" y="1901508"/>
          <a:ext cx="2413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4" imgW="241300" imgH="177165" progId="Equation.KSEE3">
                  <p:embed/>
                </p:oleObj>
              </mc:Choice>
              <mc:Fallback>
                <p:oleObj name="" r:id="rId4" imgW="2413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86470" y="1901508"/>
                        <a:ext cx="2413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68210" y="2548256"/>
          <a:ext cx="241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6" imgW="241300" imgH="165100" progId="Equation.KSEE3">
                  <p:embed/>
                </p:oleObj>
              </mc:Choice>
              <mc:Fallback>
                <p:oleObj name="" r:id="rId6" imgW="241300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68210" y="2548256"/>
                        <a:ext cx="241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73210" y="2779395"/>
          <a:ext cx="447675" cy="306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8" imgW="241300" imgH="165100" progId="Equation.KSEE3">
                  <p:embed/>
                </p:oleObj>
              </mc:Choice>
              <mc:Fallback>
                <p:oleObj name="" r:id="rId8" imgW="241300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73210" y="2779395"/>
                        <a:ext cx="447675" cy="306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9624695" y="2770505"/>
            <a:ext cx="206248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Distance Interval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73210" y="3159760"/>
          <a:ext cx="447675" cy="328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" r:id="rId9" imgW="241300" imgH="177165" progId="Equation.KSEE3">
                  <p:embed/>
                </p:oleObj>
              </mc:Choice>
              <mc:Fallback>
                <p:oleObj name="" r:id="rId9" imgW="2413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73210" y="3159760"/>
                        <a:ext cx="447675" cy="328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9655175" y="3120390"/>
            <a:ext cx="203200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Angle Interval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9318625" y="3577590"/>
            <a:ext cx="186055" cy="19113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9655175" y="3488690"/>
            <a:ext cx="86677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Node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10565" y="5728970"/>
            <a:ext cx="1318260" cy="33718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>
              <a:buFont typeface="Wingdings" panose="05000000000000000000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Confidence =  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91" name="对象 9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65960" y="5796915"/>
          <a:ext cx="1645920" cy="26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11" imgW="1320165" imgH="215900" progId="Equation.KSEE3">
                  <p:embed/>
                </p:oleObj>
              </mc:Choice>
              <mc:Fallback>
                <p:oleObj name="" r:id="rId11" imgW="1320165" imgH="2159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65960" y="5796915"/>
                        <a:ext cx="1645920" cy="269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/>
          <p:nvPr/>
        </p:nvSpPr>
        <p:spPr>
          <a:xfrm>
            <a:off x="299720" y="516255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Model</a:t>
            </a:r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710" y="159797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zh-HK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285750" indent="-285750" algn="just" defTabSz="2667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endParaRPr lang="en-US" altLang="zh-HK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7345" y="1530350"/>
            <a:ext cx="5295900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>
              <a:buFont typeface="Wingdings" panose="05000000000000000000" charset="0"/>
              <a:buNone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Ability of Model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Predict distance and angle from node to node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Evaluate quality of CSI data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2110" y="3920490"/>
            <a:ext cx="1449705" cy="14274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72110" y="4151630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72110" y="4355465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72110" y="4559300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72110" y="5170805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72110" y="4763135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72110" y="4966970"/>
            <a:ext cx="14497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5" idx="0"/>
            <a:endCxn id="5" idx="2"/>
          </p:cNvCxnSpPr>
          <p:nvPr/>
        </p:nvCxnSpPr>
        <p:spPr>
          <a:xfrm>
            <a:off x="1097280" y="3920490"/>
            <a:ext cx="0" cy="1427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01345" y="3920490"/>
            <a:ext cx="0" cy="1427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12165" y="3920490"/>
            <a:ext cx="0" cy="1427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344930" y="3920490"/>
            <a:ext cx="0" cy="1427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1576705" y="3920490"/>
            <a:ext cx="0" cy="1427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左大括号 17"/>
          <p:cNvSpPr/>
          <p:nvPr/>
        </p:nvSpPr>
        <p:spPr>
          <a:xfrm>
            <a:off x="1863725" y="3673475"/>
            <a:ext cx="342900" cy="21145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71475" y="3297555"/>
            <a:ext cx="1492250" cy="53530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unwrapped CSI(NRx*NSub)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446020" y="3673475"/>
            <a:ext cx="748665" cy="3149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</a:t>
            </a:r>
            <a:r>
              <a:rPr lang="en-US" altLang="zh-CN"/>
              <a:t>eal</a:t>
            </a:r>
            <a:endParaRPr lang="en-US" altLang="zh-CN"/>
          </a:p>
        </p:txBody>
      </p:sp>
      <p:sp>
        <p:nvSpPr>
          <p:cNvPr id="56" name="矩形 55"/>
          <p:cNvSpPr/>
          <p:nvPr/>
        </p:nvSpPr>
        <p:spPr>
          <a:xfrm>
            <a:off x="3194685" y="3673475"/>
            <a:ext cx="748665" cy="3149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Imag</a:t>
            </a:r>
            <a:endParaRPr lang="en-US" altLang="zh-CN"/>
          </a:p>
        </p:txBody>
      </p:sp>
      <p:sp>
        <p:nvSpPr>
          <p:cNvPr id="57" name="文本框 56"/>
          <p:cNvSpPr txBox="1"/>
          <p:nvPr/>
        </p:nvSpPr>
        <p:spPr>
          <a:xfrm>
            <a:off x="2934335" y="3255010"/>
            <a:ext cx="648970" cy="2590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Rx_0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448560" y="4509135"/>
            <a:ext cx="1497965" cy="5956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Sin</a:t>
            </a:r>
            <a:endParaRPr lang="en-US" altLang="zh-CN"/>
          </a:p>
        </p:txBody>
      </p:sp>
      <p:sp>
        <p:nvSpPr>
          <p:cNvPr id="59" name="矩形 58"/>
          <p:cNvSpPr/>
          <p:nvPr/>
        </p:nvSpPr>
        <p:spPr>
          <a:xfrm>
            <a:off x="2448560" y="5104765"/>
            <a:ext cx="1497965" cy="5956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Cos</a:t>
            </a:r>
            <a:endParaRPr lang="en-US" altLang="zh-CN"/>
          </a:p>
        </p:txBody>
      </p:sp>
      <p:sp>
        <p:nvSpPr>
          <p:cNvPr id="61" name="文本框 60"/>
          <p:cNvSpPr txBox="1"/>
          <p:nvPr/>
        </p:nvSpPr>
        <p:spPr>
          <a:xfrm>
            <a:off x="2713355" y="4208145"/>
            <a:ext cx="967740" cy="2590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Phase_diff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4020820" y="3830955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4023995" y="5099050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943350" y="3514090"/>
            <a:ext cx="819785" cy="2743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Flatten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943350" y="4824730"/>
            <a:ext cx="819785" cy="2743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Flatten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787900" y="3473450"/>
            <a:ext cx="259080" cy="27438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2" name="图片 71" descr="神经网络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0565" y="3199765"/>
            <a:ext cx="788670" cy="788670"/>
          </a:xfrm>
          <a:prstGeom prst="rect">
            <a:avLst/>
          </a:prstGeom>
        </p:spPr>
      </p:pic>
      <p:cxnSp>
        <p:nvCxnSpPr>
          <p:cNvPr id="73" name="直接箭头连接符 72"/>
          <p:cNvCxnSpPr/>
          <p:nvPr/>
        </p:nvCxnSpPr>
        <p:spPr>
          <a:xfrm>
            <a:off x="5169535" y="3599815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4" name="图片 73" descr="神经网络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4461510"/>
            <a:ext cx="788670" cy="788670"/>
          </a:xfrm>
          <a:prstGeom prst="rect">
            <a:avLst/>
          </a:prstGeom>
        </p:spPr>
      </p:pic>
      <p:pic>
        <p:nvPicPr>
          <p:cNvPr id="77" name="图片 76" descr="神经网络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3425" y="5661660"/>
            <a:ext cx="788670" cy="788670"/>
          </a:xfrm>
          <a:prstGeom prst="rect">
            <a:avLst/>
          </a:prstGeom>
        </p:spPr>
      </p:pic>
      <p:cxnSp>
        <p:nvCxnSpPr>
          <p:cNvPr id="78" name="直接箭头连接符 77"/>
          <p:cNvCxnSpPr/>
          <p:nvPr/>
        </p:nvCxnSpPr>
        <p:spPr>
          <a:xfrm>
            <a:off x="5146675" y="4861560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>
            <a:off x="5133975" y="6047105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5777865" y="2933700"/>
            <a:ext cx="883920" cy="3429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dist_net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5784215" y="4118610"/>
            <a:ext cx="883920" cy="3429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angle_net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5791200" y="5337175"/>
            <a:ext cx="883920" cy="3429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conf_net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83" name="直接箭头连接符 82"/>
          <p:cNvCxnSpPr/>
          <p:nvPr/>
        </p:nvCxnSpPr>
        <p:spPr>
          <a:xfrm>
            <a:off x="6642735" y="3599815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>
            <a:off x="6579870" y="4867910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>
            <a:off x="6579235" y="6058535"/>
            <a:ext cx="64389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86" name="对象 8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57110" y="3346450"/>
          <a:ext cx="202565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6" imgW="139700" imgH="279400" progId="Equation.KSEE3">
                  <p:embed/>
                </p:oleObj>
              </mc:Choice>
              <mc:Fallback>
                <p:oleObj name="" r:id="rId6" imgW="139700" imgH="2794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57110" y="3346450"/>
                        <a:ext cx="202565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对象 8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66318" y="4587875"/>
          <a:ext cx="18415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8" imgW="127000" imgH="279400" progId="Equation.KSEE3">
                  <p:embed/>
                </p:oleObj>
              </mc:Choice>
              <mc:Fallback>
                <p:oleObj name="" r:id="rId8" imgW="127000" imgH="2794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66318" y="4587875"/>
                        <a:ext cx="18415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84416" y="5804535"/>
          <a:ext cx="165735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" name="" r:id="rId10" imgW="114300" imgH="279400" progId="Equation.KSEE3">
                  <p:embed/>
                </p:oleObj>
              </mc:Choice>
              <mc:Fallback>
                <p:oleObj name="" r:id="rId10" imgW="114300" imgH="2794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384416" y="5804535"/>
                        <a:ext cx="165735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2" name="直接箭头连接符 91"/>
          <p:cNvCxnSpPr/>
          <p:nvPr/>
        </p:nvCxnSpPr>
        <p:spPr>
          <a:xfrm flipH="1">
            <a:off x="6453505" y="3767455"/>
            <a:ext cx="840105" cy="1966595"/>
          </a:xfrm>
          <a:prstGeom prst="straightConnector1">
            <a:avLst/>
          </a:prstGeom>
          <a:ln>
            <a:solidFill>
              <a:srgbClr val="BF22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矩形 92"/>
          <p:cNvSpPr/>
          <p:nvPr/>
        </p:nvSpPr>
        <p:spPr>
          <a:xfrm>
            <a:off x="7293610" y="3276600"/>
            <a:ext cx="356870" cy="303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4" name="对象 9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17230" y="3473133"/>
          <a:ext cx="20256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" name="" r:id="rId12" imgW="139700" imgH="177165" progId="Equation.KSEE3">
                  <p:embed/>
                </p:oleObj>
              </mc:Choice>
              <mc:Fallback>
                <p:oleObj name="" r:id="rId12" imgW="139700" imgH="177165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317230" y="3473133"/>
                        <a:ext cx="202565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对象 9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44218" y="4735513"/>
          <a:ext cx="18415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" name="" r:id="rId14" imgW="127000" imgH="177165" progId="Equation.KSEE3">
                  <p:embed/>
                </p:oleObj>
              </mc:Choice>
              <mc:Fallback>
                <p:oleObj name="" r:id="rId14" imgW="127000" imgH="177165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344218" y="4735513"/>
                        <a:ext cx="184150" cy="25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对象 9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344536" y="6014403"/>
          <a:ext cx="165735" cy="202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" name="" r:id="rId16" imgW="114300" imgH="139700" progId="Equation.KSEE3">
                  <p:embed/>
                </p:oleObj>
              </mc:Choice>
              <mc:Fallback>
                <p:oleObj name="" r:id="rId16" imgW="114300" imgH="1397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344536" y="6014403"/>
                        <a:ext cx="165735" cy="202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矩形 99"/>
          <p:cNvSpPr/>
          <p:nvPr/>
        </p:nvSpPr>
        <p:spPr>
          <a:xfrm>
            <a:off x="8253730" y="3276600"/>
            <a:ext cx="356870" cy="303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1" name="直接箭头连接符 100"/>
          <p:cNvCxnSpPr/>
          <p:nvPr/>
        </p:nvCxnSpPr>
        <p:spPr>
          <a:xfrm>
            <a:off x="7650480" y="3601720"/>
            <a:ext cx="58102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7650480" y="4868545"/>
            <a:ext cx="58102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>
            <a:off x="7650480" y="6064250"/>
            <a:ext cx="58102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文本框 103"/>
          <p:cNvSpPr txBox="1"/>
          <p:nvPr/>
        </p:nvSpPr>
        <p:spPr>
          <a:xfrm>
            <a:off x="9653905" y="4707890"/>
            <a:ext cx="582295" cy="31496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loss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105" name="直接箭头连接符 104"/>
          <p:cNvCxnSpPr/>
          <p:nvPr/>
        </p:nvCxnSpPr>
        <p:spPr>
          <a:xfrm>
            <a:off x="8700135" y="3494405"/>
            <a:ext cx="967740" cy="1183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 flipV="1">
            <a:off x="8673465" y="4845685"/>
            <a:ext cx="908685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V="1">
            <a:off x="8700135" y="5013325"/>
            <a:ext cx="889000" cy="10566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>
            <a:off x="7672705" y="4868545"/>
            <a:ext cx="58102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9" name="文本框 108"/>
          <p:cNvSpPr txBox="1"/>
          <p:nvPr/>
        </p:nvSpPr>
        <p:spPr>
          <a:xfrm>
            <a:off x="8977630" y="3649980"/>
            <a:ext cx="1198880" cy="2159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dist_weight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8510270" y="4512310"/>
            <a:ext cx="1143635" cy="30734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angle_weight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8840470" y="5854065"/>
            <a:ext cx="1198880" cy="2159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conf_weight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112" name="表格 111"/>
          <p:cNvGraphicFramePr/>
          <p:nvPr>
            <p:custDataLst>
              <p:tags r:id="rId18"/>
            </p:custDataLst>
          </p:nvPr>
        </p:nvGraphicFramePr>
        <p:xfrm>
          <a:off x="4662170" y="1470660"/>
          <a:ext cx="6590665" cy="1464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190"/>
                <a:gridCol w="1634490"/>
                <a:gridCol w="1661795"/>
                <a:gridCol w="164719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Scenario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dist_weight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angle_weight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conf_weight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conf = 1.0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*2</a:t>
                      </a:r>
                      <a:endParaRPr lang="en-US" altLang="zh-CN"/>
                    </a:p>
                  </a:txBody>
                  <a:tcPr/>
                </a:tc>
              </a:tr>
              <a:tr h="3670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1.0 &lt; conf </a:t>
                      </a:r>
                      <a:r>
                        <a:rPr lang="en-US" altLang="zh-CN"/>
                        <a:t>≤ 0.5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*2.5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*2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 </a:t>
                      </a:r>
                      <a:r>
                        <a:rPr lang="en-US" altLang="zh-CN"/>
                        <a:t>≤ conf &lt; 0.5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*0.5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*2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/>
          <p:cNvSpPr txBox="1"/>
          <p:nvPr/>
        </p:nvSpPr>
        <p:spPr>
          <a:xfrm>
            <a:off x="299720" y="516255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pic>
        <p:nvPicPr>
          <p:cNvPr id="9" name="图片 8" descr="csi_test_mae_vs_wall_loss_20MHz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" y="1532890"/>
            <a:ext cx="5516880" cy="212471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78180" y="4592955"/>
            <a:ext cx="5777230" cy="1476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 Wall Loss decreasing, Distance/Angle decreases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Low Confidence, Distance, and  MAE when Wall Loss &lt; 20 dB (corresponding to Confidence within [0.8, 1.0]). So  Confidence in this range is considered as reasonble.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8" name="Title 2"/>
          <p:cNvSpPr txBox="1"/>
          <p:nvPr/>
        </p:nvSpPr>
        <p:spPr>
          <a:xfrm>
            <a:off x="426720" y="0"/>
            <a:ext cx="1014476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T</a:t>
            </a:r>
            <a:r>
              <a:rPr lang="en-US" altLang="en-US" sz="4000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est</a:t>
            </a:r>
            <a:endParaRPr lang="en-US" altLang="en-US" sz="4000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72360" y="3889375"/>
            <a:ext cx="201930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Test result of DNN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3" name="图片 2" descr="csi_test_mae_vs_wall_loss_20MHz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235" y="1532890"/>
            <a:ext cx="5517515" cy="21247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422515" y="3889375"/>
            <a:ext cx="281559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Test result of Transformer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65430" y="459740"/>
            <a:ext cx="1026160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Scene</a:t>
            </a:r>
            <a:endParaRPr lang="en-US" altLang="zh-CN" sz="4000" dirty="0" err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14" name="图片 13" descr="路由器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/>
          <a:stretch>
            <a:fillRect/>
          </a:stretch>
        </p:blipFill>
        <p:spPr>
          <a:xfrm>
            <a:off x="7359015" y="3164205"/>
            <a:ext cx="153670" cy="153670"/>
          </a:xfrm>
          <a:prstGeom prst="rect">
            <a:avLst/>
          </a:prstGeom>
        </p:spPr>
      </p:pic>
      <p:pic>
        <p:nvPicPr>
          <p:cNvPr id="4" name="图片 3" descr="路由器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6245" y="2378075"/>
            <a:ext cx="501650" cy="5016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181735" y="3445510"/>
            <a:ext cx="1680210" cy="984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rot="18540000">
            <a:off x="3554095" y="2407285"/>
            <a:ext cx="1287780" cy="3149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电子设备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17750" y="4297680"/>
            <a:ext cx="313690" cy="313690"/>
          </a:xfrm>
          <a:prstGeom prst="rect">
            <a:avLst/>
          </a:prstGeom>
        </p:spPr>
      </p:pic>
      <p:pic>
        <p:nvPicPr>
          <p:cNvPr id="12" name="图片 11" descr="电子设备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190" y="2162810"/>
            <a:ext cx="313690" cy="313690"/>
          </a:xfrm>
          <a:prstGeom prst="rect">
            <a:avLst/>
          </a:prstGeom>
        </p:spPr>
      </p:pic>
      <p:pic>
        <p:nvPicPr>
          <p:cNvPr id="13" name="图片 12" descr="电子设备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9410" y="3317875"/>
            <a:ext cx="313690" cy="313690"/>
          </a:xfrm>
          <a:prstGeom prst="rect">
            <a:avLst/>
          </a:prstGeom>
        </p:spPr>
      </p:pic>
      <p:pic>
        <p:nvPicPr>
          <p:cNvPr id="15" name="图片 14" descr="电子设备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22520" y="2476500"/>
            <a:ext cx="313690" cy="313690"/>
          </a:xfrm>
          <a:prstGeom prst="rect">
            <a:avLst/>
          </a:prstGeom>
        </p:spPr>
      </p:pic>
      <p:pic>
        <p:nvPicPr>
          <p:cNvPr id="16" name="图片 15" descr="电子设备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55925" y="1604010"/>
            <a:ext cx="313690" cy="313690"/>
          </a:xfrm>
          <a:prstGeom prst="rect">
            <a:avLst/>
          </a:prstGeom>
        </p:spPr>
      </p:pic>
      <p:pic>
        <p:nvPicPr>
          <p:cNvPr id="17" name="图片 16" descr="电子设备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7955" y="3587750"/>
            <a:ext cx="313690" cy="31369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 rot="1200000">
            <a:off x="1979295" y="2058670"/>
            <a:ext cx="1294765" cy="2025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537210" y="2546985"/>
            <a:ext cx="245110" cy="69977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083945" y="2451735"/>
            <a:ext cx="702945" cy="24003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95325" y="3733800"/>
            <a:ext cx="1487805" cy="72009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2766060" y="3901440"/>
            <a:ext cx="1161415" cy="52578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4273550" y="2921000"/>
            <a:ext cx="648970" cy="60071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3358515" y="1807845"/>
            <a:ext cx="1463040" cy="75628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4" idx="3"/>
          </p:cNvCxnSpPr>
          <p:nvPr/>
        </p:nvCxnSpPr>
        <p:spPr>
          <a:xfrm flipV="1">
            <a:off x="2207895" y="1912620"/>
            <a:ext cx="748030" cy="71628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722630" y="2914015"/>
            <a:ext cx="983615" cy="531495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 flipV="1">
            <a:off x="1945005" y="2941955"/>
            <a:ext cx="483235" cy="127381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 flipV="1">
            <a:off x="2254885" y="2917825"/>
            <a:ext cx="1656715" cy="744855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>
            <a:off x="2317750" y="2724785"/>
            <a:ext cx="2461895" cy="10414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131820" y="1979930"/>
            <a:ext cx="839470" cy="147574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2616835" y="2011045"/>
            <a:ext cx="427355" cy="221170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2713990" y="2780665"/>
            <a:ext cx="2184400" cy="152844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882015" y="2564765"/>
            <a:ext cx="1363980" cy="163703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916940" y="2527935"/>
            <a:ext cx="2958465" cy="124841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500380" y="5052060"/>
            <a:ext cx="530860" cy="317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266190" y="4900295"/>
            <a:ext cx="1447165" cy="26098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Sidelink model 1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500380" y="5398770"/>
            <a:ext cx="513715" cy="889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266190" y="5224780"/>
            <a:ext cx="1545590" cy="26098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Sidelink model 2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575935" y="1484630"/>
            <a:ext cx="5309235" cy="196151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1. AP as original point (0, 0);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 AP receive CSI data from neighbor nodes;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3. AP chose the node N1 with the highest Confidence;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 AP compute</a:t>
            </a: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 coordinate of  N1 and transmit it to N1;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5. N1 opperates as anchor node and repeat step 2-4 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   until target node get its coordinate.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624195" y="3733800"/>
            <a:ext cx="4378960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How to compute coordinate of next node?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43" name="图片 42" descr="路由器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4220" y="4513580"/>
            <a:ext cx="467360" cy="467360"/>
          </a:xfrm>
          <a:prstGeom prst="rect">
            <a:avLst/>
          </a:prstGeom>
        </p:spPr>
      </p:pic>
      <p:pic>
        <p:nvPicPr>
          <p:cNvPr id="44" name="图片 43" descr="电子设备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635" y="5605145"/>
            <a:ext cx="362585" cy="362585"/>
          </a:xfrm>
          <a:prstGeom prst="rect">
            <a:avLst/>
          </a:prstGeom>
        </p:spPr>
      </p:pic>
      <p:cxnSp>
        <p:nvCxnSpPr>
          <p:cNvPr id="45" name="直接连接符 44"/>
          <p:cNvCxnSpPr>
            <a:stCxn id="43" idx="2"/>
            <a:endCxn id="44" idx="1"/>
          </p:cNvCxnSpPr>
          <p:nvPr/>
        </p:nvCxnSpPr>
        <p:spPr>
          <a:xfrm>
            <a:off x="6057900" y="4980940"/>
            <a:ext cx="673735" cy="8058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 flipV="1">
            <a:off x="6057900" y="4297680"/>
            <a:ext cx="3175" cy="727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电子设备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3690" y="4666615"/>
            <a:ext cx="362585" cy="362585"/>
          </a:xfrm>
          <a:prstGeom prst="rect">
            <a:avLst/>
          </a:prstGeom>
        </p:spPr>
      </p:pic>
      <p:cxnSp>
        <p:nvCxnSpPr>
          <p:cNvPr id="5" name="直接连接符 4"/>
          <p:cNvCxnSpPr>
            <a:stCxn id="44" idx="3"/>
            <a:endCxn id="3" idx="1"/>
          </p:cNvCxnSpPr>
          <p:nvPr/>
        </p:nvCxnSpPr>
        <p:spPr>
          <a:xfrm flipV="1">
            <a:off x="7094220" y="4848225"/>
            <a:ext cx="839470" cy="938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24195" y="4927600"/>
          <a:ext cx="209550" cy="297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6" imgW="152400" imgH="215900" progId="Equation.KSEE3">
                  <p:embed/>
                </p:oleObj>
              </mc:Choice>
              <mc:Fallback>
                <p:oleObj name="" r:id="rId16" imgW="152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24195" y="4927600"/>
                        <a:ext cx="209550" cy="297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39318" y="5539105"/>
          <a:ext cx="268605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18" imgW="165100" imgH="215900" progId="Equation.KSEE3">
                  <p:embed/>
                </p:oleObj>
              </mc:Choice>
              <mc:Fallback>
                <p:oleObj name="" r:id="rId18" imgW="1651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239318" y="5539105"/>
                        <a:ext cx="268605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2" name="直接连接符 41"/>
          <p:cNvCxnSpPr/>
          <p:nvPr/>
        </p:nvCxnSpPr>
        <p:spPr>
          <a:xfrm>
            <a:off x="6377305" y="5892800"/>
            <a:ext cx="1802765" cy="12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48" name="对象 4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512686" y="5224780"/>
          <a:ext cx="288290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" r:id="rId20" imgW="177165" imgH="215900" progId="Equation.KSEE3">
                  <p:embed/>
                </p:oleObj>
              </mc:Choice>
              <mc:Fallback>
                <p:oleObj name="" r:id="rId20" imgW="177165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512686" y="5224780"/>
                        <a:ext cx="288290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452871" y="5045075"/>
          <a:ext cx="269240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" r:id="rId22" imgW="165100" imgH="215900" progId="Equation.KSEE3">
                  <p:embed/>
                </p:oleObj>
              </mc:Choice>
              <mc:Fallback>
                <p:oleObj name="" r:id="rId22" imgW="1651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452871" y="5045075"/>
                        <a:ext cx="269240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256655" y="4513580"/>
          <a:ext cx="465455" cy="275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24" imgW="342900" imgH="203200" progId="Equation.KSEE3">
                  <p:embed/>
                </p:oleObj>
              </mc:Choice>
              <mc:Fallback>
                <p:oleObj name="" r:id="rId24" imgW="342900" imgH="2032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256655" y="4513580"/>
                        <a:ext cx="465455" cy="275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88705" y="4142105"/>
          <a:ext cx="1360805" cy="838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26" imgW="1028700" imgH="634365" progId="Equation.KSEE3">
                  <p:embed/>
                </p:oleObj>
              </mc:Choice>
              <mc:Fallback>
                <p:oleObj name="" r:id="rId26" imgW="1028700" imgH="634365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688705" y="4142105"/>
                        <a:ext cx="1360805" cy="838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423843" y="4254500"/>
          <a:ext cx="141668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28" imgW="1016000" imgH="482600" progId="Equation.KSEE3">
                  <p:embed/>
                </p:oleObj>
              </mc:Choice>
              <mc:Fallback>
                <p:oleObj name="" r:id="rId28" imgW="1016000" imgH="4826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423843" y="4254500"/>
                        <a:ext cx="1416685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72195" y="5240020"/>
          <a:ext cx="2106295" cy="66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30" imgW="1447800" imgH="457200" progId="Equation.KSEE3">
                  <p:embed/>
                </p:oleObj>
              </mc:Choice>
              <mc:Fallback>
                <p:oleObj name="" r:id="rId30" imgW="1447800" imgH="4572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672195" y="5240020"/>
                        <a:ext cx="2106295" cy="665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直接箭头连接符 56"/>
          <p:cNvCxnSpPr/>
          <p:nvPr/>
        </p:nvCxnSpPr>
        <p:spPr>
          <a:xfrm flipV="1">
            <a:off x="2133600" y="2809240"/>
            <a:ext cx="1864995" cy="29845"/>
          </a:xfrm>
          <a:prstGeom prst="straightConnector1">
            <a:avLst/>
          </a:prstGeom>
          <a:ln>
            <a:solidFill>
              <a:srgbClr val="BF22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H="1" flipV="1">
            <a:off x="2021205" y="882650"/>
            <a:ext cx="5080" cy="1809115"/>
          </a:xfrm>
          <a:prstGeom prst="straightConnector1">
            <a:avLst/>
          </a:prstGeom>
          <a:ln>
            <a:solidFill>
              <a:srgbClr val="BF226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3044190" y="2828925"/>
            <a:ext cx="46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</a:t>
            </a:r>
            <a:endParaRPr lang="en-US" altLang="zh-CN"/>
          </a:p>
        </p:txBody>
      </p:sp>
      <p:sp>
        <p:nvSpPr>
          <p:cNvPr id="60" name="文本框 59"/>
          <p:cNvSpPr txBox="1"/>
          <p:nvPr/>
        </p:nvSpPr>
        <p:spPr>
          <a:xfrm>
            <a:off x="2133600" y="1021715"/>
            <a:ext cx="46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y</a:t>
            </a:r>
            <a:endParaRPr lang="en-US" altLang="zh-CN"/>
          </a:p>
        </p:txBody>
      </p:sp>
      <p:sp>
        <p:nvSpPr>
          <p:cNvPr id="61" name="文本框 60"/>
          <p:cNvSpPr txBox="1"/>
          <p:nvPr/>
        </p:nvSpPr>
        <p:spPr>
          <a:xfrm>
            <a:off x="6389370" y="6099810"/>
            <a:ext cx="1123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node_1</a:t>
            </a:r>
            <a:endParaRPr lang="en-US" altLang="zh-CN"/>
          </a:p>
        </p:txBody>
      </p:sp>
      <p:sp>
        <p:nvSpPr>
          <p:cNvPr id="62" name="文本框 61"/>
          <p:cNvSpPr txBox="1"/>
          <p:nvPr/>
        </p:nvSpPr>
        <p:spPr>
          <a:xfrm>
            <a:off x="7508240" y="4254500"/>
            <a:ext cx="929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node_2</a:t>
            </a:r>
            <a:endParaRPr lang="en-US" altLang="zh-CN"/>
          </a:p>
        </p:txBody>
      </p:sp>
      <p:sp>
        <p:nvSpPr>
          <p:cNvPr id="47" name="文本框 46"/>
          <p:cNvSpPr txBox="1"/>
          <p:nvPr/>
        </p:nvSpPr>
        <p:spPr>
          <a:xfrm>
            <a:off x="593725" y="1807845"/>
            <a:ext cx="420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N1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713355" y="4559300"/>
            <a:ext cx="10140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Target node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65430" y="459740"/>
            <a:ext cx="1026160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Optimization</a:t>
            </a:r>
            <a:endParaRPr lang="en-US" altLang="zh-CN" sz="4000" dirty="0" err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14" name="图片 13" descr="路由器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/>
          <a:stretch>
            <a:fillRect/>
          </a:stretch>
        </p:blipFill>
        <p:spPr>
          <a:xfrm>
            <a:off x="7359015" y="3982720"/>
            <a:ext cx="153670" cy="153670"/>
          </a:xfrm>
          <a:prstGeom prst="rect">
            <a:avLst/>
          </a:prstGeom>
        </p:spPr>
      </p:pic>
      <p:graphicFrame>
        <p:nvGraphicFramePr>
          <p:cNvPr id="56" name="对象 5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43853" y="2242820"/>
          <a:ext cx="2882265" cy="830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2" imgW="1498600" imgH="431800" progId="Equation.KSEE3">
                  <p:embed/>
                </p:oleObj>
              </mc:Choice>
              <mc:Fallback>
                <p:oleObj name="" r:id="rId2" imgW="1498600" imgH="4318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3853" y="2242820"/>
                        <a:ext cx="2882265" cy="830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738245" y="2242820"/>
          <a:ext cx="355600" cy="662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4" imgW="177165" imgH="330200" progId="Equation.KSEE3">
                  <p:embed/>
                </p:oleObj>
              </mc:Choice>
              <mc:Fallback>
                <p:oleObj name="" r:id="rId4" imgW="177165" imgH="3302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38245" y="2242820"/>
                        <a:ext cx="355600" cy="662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文本框 57"/>
          <p:cNvSpPr txBox="1"/>
          <p:nvPr/>
        </p:nvSpPr>
        <p:spPr>
          <a:xfrm>
            <a:off x="4093845" y="2456180"/>
            <a:ext cx="1626235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Error Vector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9" name="对象 5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1815" y="3196590"/>
          <a:ext cx="2353945" cy="621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" r:id="rId6" imgW="1155700" imgH="304800" progId="Equation.KSEE3">
                  <p:embed/>
                </p:oleObj>
              </mc:Choice>
              <mc:Fallback>
                <p:oleObj name="" r:id="rId6" imgW="1155700" imgH="304800" progId="Equation.KSEE3">
                  <p:embed/>
                  <p:pic>
                    <p:nvPicPr>
                      <p:cNvPr id="0" name="图片 205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1815" y="3196590"/>
                        <a:ext cx="2353945" cy="621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16630" y="3187700"/>
          <a:ext cx="708025" cy="56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" r:id="rId8" imgW="381000" imgH="304800" progId="Equation.KSEE3">
                  <p:embed/>
                </p:oleObj>
              </mc:Choice>
              <mc:Fallback>
                <p:oleObj name="" r:id="rId8" imgW="381000" imgH="304800" progId="Equation.KSEE3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16630" y="3187700"/>
                        <a:ext cx="708025" cy="566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文本框 60"/>
          <p:cNvSpPr txBox="1"/>
          <p:nvPr/>
        </p:nvSpPr>
        <p:spPr>
          <a:xfrm>
            <a:off x="4381500" y="3325495"/>
            <a:ext cx="2537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Vector of node i and j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62" name="对象 6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66610" y="3204845"/>
          <a:ext cx="365125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" r:id="rId10" imgW="203200" imgH="304800" progId="Equation.KSEE3">
                  <p:embed/>
                </p:oleObj>
              </mc:Choice>
              <mc:Fallback>
                <p:oleObj name="" r:id="rId10" imgW="203200" imgH="304800" progId="Equation.KSEE3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166610" y="3204845"/>
                        <a:ext cx="365125" cy="548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文本框 62"/>
          <p:cNvSpPr txBox="1"/>
          <p:nvPr/>
        </p:nvSpPr>
        <p:spPr>
          <a:xfrm>
            <a:off x="7779385" y="3204845"/>
            <a:ext cx="26911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Displacement Vector between node i and j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440690" y="4390390"/>
            <a:ext cx="29070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Methode: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Gauss-Newton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Levenberg-Marquardt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5" name="文本框 64"/>
          <p:cNvSpPr txBox="1"/>
          <p:nvPr/>
        </p:nvSpPr>
        <p:spPr>
          <a:xfrm>
            <a:off x="317500" y="1549400"/>
            <a:ext cx="4064000" cy="39878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Graph-based Optimization</a:t>
            </a:r>
            <a:endParaRPr lang="en-US" altLang="zh-CN" sz="20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65430" y="459740"/>
            <a:ext cx="1026160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Simulation(DNN)</a:t>
            </a:r>
            <a:endParaRPr lang="en-US" altLang="zh-CN" sz="4000" dirty="0" err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7255" y="1536065"/>
            <a:ext cx="123190" cy="39554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rot="16200000">
            <a:off x="1751965" y="2724785"/>
            <a:ext cx="296545" cy="20059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pic>
        <p:nvPicPr>
          <p:cNvPr id="5" name="图片 4" descr="手机移动设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0895" y="3578225"/>
            <a:ext cx="297815" cy="297815"/>
          </a:xfrm>
          <a:prstGeom prst="rect">
            <a:avLst/>
          </a:prstGeom>
        </p:spPr>
      </p:pic>
      <p:pic>
        <p:nvPicPr>
          <p:cNvPr id="6" name="图片 5" descr="手机移动设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9125" y="2618105"/>
            <a:ext cx="297815" cy="297815"/>
          </a:xfrm>
          <a:prstGeom prst="rect">
            <a:avLst/>
          </a:prstGeom>
        </p:spPr>
      </p:pic>
      <p:pic>
        <p:nvPicPr>
          <p:cNvPr id="8" name="图片 7" descr="手机移动设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1740" y="2200910"/>
            <a:ext cx="297815" cy="29781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054985" y="2732405"/>
            <a:ext cx="1115060" cy="1835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手机移动设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7195" y="1870075"/>
            <a:ext cx="297815" cy="2978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27655" y="3579495"/>
            <a:ext cx="75565" cy="13462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 descr="路由器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3335" y="4925695"/>
            <a:ext cx="426720" cy="426720"/>
          </a:xfrm>
          <a:prstGeom prst="rect">
            <a:avLst/>
          </a:prstGeom>
        </p:spPr>
      </p:pic>
      <p:pic>
        <p:nvPicPr>
          <p:cNvPr id="13" name="图片 12" descr="手机移动设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1695" y="4104005"/>
            <a:ext cx="297815" cy="297815"/>
          </a:xfrm>
          <a:prstGeom prst="rect">
            <a:avLst/>
          </a:prstGeom>
        </p:spPr>
      </p:pic>
      <p:pic>
        <p:nvPicPr>
          <p:cNvPr id="15" name="图片 14" descr="手机移动设备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40205" y="5039995"/>
            <a:ext cx="297815" cy="29781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4752340" y="1536700"/>
            <a:ext cx="149225" cy="39554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828925" y="3420110"/>
            <a:ext cx="140335" cy="40049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96620" y="1406525"/>
            <a:ext cx="4004945" cy="1155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490595" y="4925695"/>
            <a:ext cx="386715" cy="2254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AP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38020" y="4347210"/>
            <a:ext cx="665480" cy="2254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node_1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89125" y="5043805"/>
            <a:ext cx="665480" cy="2254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node_2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584575" y="3599815"/>
            <a:ext cx="665480" cy="2254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node_3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64030" y="2927985"/>
            <a:ext cx="665480" cy="2254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node_4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773045" y="2186305"/>
            <a:ext cx="665480" cy="2254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node_5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648710" y="1960880"/>
            <a:ext cx="665480" cy="2254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node_6</a:t>
            </a:r>
            <a:endParaRPr lang="en-US" altLang="zh-CN" sz="12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13865" y="3627755"/>
            <a:ext cx="372745" cy="1841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w1</a:t>
            </a:r>
            <a:endParaRPr lang="en-US" altLang="zh-CN" sz="1200">
              <a:solidFill>
                <a:schemeClr val="bg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827655" y="4162425"/>
            <a:ext cx="372745" cy="2101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w3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388995" y="2734945"/>
            <a:ext cx="372745" cy="1841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20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w2</a:t>
            </a:r>
            <a:endParaRPr lang="en-US" altLang="zh-CN" sz="1200">
              <a:solidFill>
                <a:schemeClr val="bg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29" name="图片 28" descr="CSI_Scene_20MHz_4Rx_layo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8020" y="1087755"/>
            <a:ext cx="5715635" cy="45726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402590" y="289560"/>
            <a:ext cx="11386820" cy="52266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  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altLang="zh-CN"/>
          </a:p>
          <a:p>
            <a:r>
              <a:rPr lang="en-US" altLang="zh-CN"/>
              <a:t>  Node     True (x,y)       Sequential (x,y)        Err      Optimized (x,y)         Err          Δ       </a:t>
            </a:r>
            <a:endParaRPr lang="en-US" altLang="zh-CN"/>
          </a:p>
          <a:p>
            <a:r>
              <a:rPr lang="en-US" altLang="zh-CN"/>
              <a:t>  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altLang="zh-CN"/>
          </a:p>
          <a:p>
            <a:r>
              <a:rPr lang="en-US" altLang="zh-CN"/>
              <a:t>  BS          (50.0, 10.0)     (50.00, 10.00)         0.00     (50.00, 10.00)         0.00     +0.00</a:t>
            </a:r>
            <a:endParaRPr lang="en-US" altLang="zh-CN"/>
          </a:p>
          <a:p>
            <a:r>
              <a:rPr lang="en-US" altLang="zh-CN"/>
              <a:t>  UE1       (62.0, 28.0)     (60.91, 28.05)         1.09     (61.72, 28.24)         0.37     +0.72</a:t>
            </a:r>
            <a:endParaRPr lang="en-US" altLang="zh-CN"/>
          </a:p>
          <a:p>
            <a:r>
              <a:rPr lang="en-US" altLang="zh-CN"/>
              <a:t>  UE10     (80.0, 90.0)     (79.83, 89.89)         0.20     (79.97, 90.85)         0.85     -0.64</a:t>
            </a:r>
            <a:endParaRPr lang="en-US" altLang="zh-CN"/>
          </a:p>
          <a:p>
            <a:r>
              <a:rPr lang="en-US" altLang="zh-CN"/>
              <a:t>  UE11     (35.0, 70.0)     (31.96, 69.47)         </a:t>
            </a:r>
            <a:r>
              <a:rPr lang="en-US" altLang="zh-CN" b="1">
                <a:solidFill>
                  <a:srgbClr val="C00000"/>
                </a:solidFill>
              </a:rPr>
              <a:t>3.08</a:t>
            </a:r>
            <a:r>
              <a:rPr lang="en-US" altLang="zh-CN">
                <a:solidFill>
                  <a:srgbClr val="C00000"/>
                </a:solidFill>
              </a:rPr>
              <a:t> </a:t>
            </a:r>
            <a:r>
              <a:rPr lang="en-US" altLang="zh-CN"/>
              <a:t>    (31.93, 69.43)         3.12     -0.04</a:t>
            </a:r>
            <a:endParaRPr lang="en-US" altLang="zh-CN"/>
          </a:p>
          <a:p>
            <a:r>
              <a:rPr lang="en-US" altLang="zh-CN"/>
              <a:t>  UE12     (30.0, 80.0)     (26.86, 79.53)         </a:t>
            </a:r>
            <a:r>
              <a:rPr lang="en-US" altLang="zh-CN" b="1">
                <a:solidFill>
                  <a:srgbClr val="C00000"/>
                </a:solidFill>
              </a:rPr>
              <a:t>3.17</a:t>
            </a:r>
            <a:r>
              <a:rPr lang="en-US" altLang="zh-CN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  <a:r>
              <a:rPr lang="en-US" altLang="zh-CN"/>
              <a:t>   (26.90, 79.57)         3.13     +0.04</a:t>
            </a:r>
            <a:endParaRPr lang="en-US" altLang="zh-CN"/>
          </a:p>
          <a:p>
            <a:r>
              <a:rPr lang="en-US" altLang="zh-CN"/>
              <a:t>  UE13     (55.0, 30.0)     (55.28, 29.91)         0.29     (55.04, 30.00)         0.04     +0.25</a:t>
            </a:r>
            <a:endParaRPr lang="en-US" altLang="zh-CN"/>
          </a:p>
          <a:p>
            <a:r>
              <a:rPr lang="en-US" altLang="zh-CN"/>
              <a:t>  UE14     (45.0, 40.0)     (45.18, 40.31)         0.36     (45.00, 40.38)         0.38     -0.01</a:t>
            </a:r>
            <a:endParaRPr lang="en-US" altLang="zh-CN"/>
          </a:p>
          <a:p>
            <a:r>
              <a:rPr lang="en-US" altLang="zh-CN"/>
              <a:t>  UE15     (62.0, 62.0)     (61.51, 61.69)         0.59     (61.79, 62.49)         0.53     +0.06</a:t>
            </a:r>
            <a:endParaRPr lang="en-US" altLang="zh-CN"/>
          </a:p>
          <a:p>
            <a:r>
              <a:rPr lang="en-US" altLang="zh-CN"/>
              <a:t>  UE2       (65.0, 50.0)     (63.54, 50.17)         1.47     (64.62, 50.22)         0.44     +1.02</a:t>
            </a:r>
            <a:endParaRPr lang="en-US" altLang="zh-CN"/>
          </a:p>
          <a:p>
            <a:r>
              <a:rPr lang="en-US" altLang="zh-CN"/>
              <a:t>  UE3       (80.0, 55.0)     (79.55, 54.99)         0.45     (80.18, 55.50)         0.53     -0.08</a:t>
            </a:r>
            <a:endParaRPr lang="en-US" altLang="zh-CN"/>
          </a:p>
          <a:p>
            <a:r>
              <a:rPr lang="en-US" altLang="zh-CN"/>
              <a:t>  UE4       (90.0, 40.0)     (89.86, 39.52)         0.50     (90.63, 39.94)         0.63     -0.13</a:t>
            </a:r>
            <a:endParaRPr lang="en-US" altLang="zh-CN"/>
          </a:p>
          <a:p>
            <a:r>
              <a:rPr lang="en-US" altLang="zh-CN"/>
              <a:t>  UE5       (35.0, 50.0)     (35.24, 49.75)         0.35     (35.39, 50.14)         0.41     -0.07</a:t>
            </a:r>
            <a:endParaRPr lang="en-US" altLang="zh-CN"/>
          </a:p>
          <a:p>
            <a:r>
              <a:rPr lang="en-US" altLang="zh-CN"/>
              <a:t>  UE6       (25.0, 48.0)     (25.18, 47.26)         0.76     (25.07, 47.69)         0.32     +0.44</a:t>
            </a:r>
            <a:endParaRPr lang="en-US" altLang="zh-CN"/>
          </a:p>
          <a:p>
            <a:r>
              <a:rPr lang="en-US" altLang="zh-CN"/>
              <a:t>  UE7       (20.0, 30.0)     (19.88, 28.71)         1.30     (20.08, 29.30)         0.70     +0.59</a:t>
            </a:r>
            <a:endParaRPr lang="en-US" altLang="zh-CN"/>
          </a:p>
          <a:p>
            <a:r>
              <a:rPr lang="en-US" altLang="zh-CN"/>
              <a:t>  UE8       (50.0, 60.0)     (50.47, 60.21)         0.52     (50.04, 60.37)         0.37     +0.15</a:t>
            </a:r>
            <a:endParaRPr lang="en-US" altLang="zh-CN"/>
          </a:p>
          <a:p>
            <a:r>
              <a:rPr lang="en-US" altLang="zh-CN"/>
              <a:t>  UE9       (70.0, 80.0)     (69.75, 79.66)         0.42     (69.93, 80.57)         0.58     -0.16</a:t>
            </a:r>
            <a:endParaRPr lang="en-US" altLang="zh-CN"/>
          </a:p>
          <a:p>
            <a:r>
              <a:rPr lang="en-US" altLang="zh-CN"/>
              <a:t>  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altLang="zh-CN"/>
          </a:p>
          <a:p>
            <a:r>
              <a:rPr lang="en-US" altLang="zh-CN"/>
              <a:t>  MEAN                                           0.97                          0.83     +0.14</a:t>
            </a:r>
            <a:endParaRPr lang="en-US" altLang="zh-CN"/>
          </a:p>
          <a:p>
            <a:r>
              <a:rPr lang="en-US" altLang="zh-CN"/>
              <a:t>  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65430" y="-254000"/>
            <a:ext cx="1026160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Simulation(DNN)</a:t>
            </a:r>
            <a:endParaRPr lang="en-US" altLang="zh-CN" sz="4000" dirty="0" err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448800" y="2378075"/>
            <a:ext cx="2622550" cy="7372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 multi-hop mechnisim(</a:t>
            </a:r>
            <a:endParaRPr lang="en-US" altLang="zh-CN" sz="14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before optimization):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Average error: 0.40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32" name="表格 31"/>
          <p:cNvGraphicFramePr/>
          <p:nvPr/>
        </p:nvGraphicFramePr>
        <p:xfrm>
          <a:off x="4728845" y="718820"/>
          <a:ext cx="4480560" cy="251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405"/>
                <a:gridCol w="1128395"/>
                <a:gridCol w="1226185"/>
                <a:gridCol w="1171575"/>
              </a:tblGrid>
              <a:tr h="323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 Node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est_location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true_location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error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(2.70, 2.91)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(3.00, 3.00)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(1.91, 0.33)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(2.00, 0.00)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(7.30, 3.79)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(7.00, 4.00)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(2.54, 6.75)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(2.50, 7.00)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0.25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(5.33, 7.66)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(6.00, 8.00)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0.75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(8.28, 7.27)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(8.00, 7.50)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0.36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5" name="表格 34"/>
          <p:cNvGraphicFramePr/>
          <p:nvPr/>
        </p:nvGraphicFramePr>
        <p:xfrm>
          <a:off x="4728845" y="3865245"/>
          <a:ext cx="4480560" cy="251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405"/>
                <a:gridCol w="1128395"/>
                <a:gridCol w="1226185"/>
                <a:gridCol w="1171575"/>
              </a:tblGrid>
              <a:tr h="323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 Node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est_location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true_location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error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(2.86, 2.68)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(3.00, 3.00)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(1.91, 0.33)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(2.00, 0.00)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(7.30, 3.79)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(7.00, 4.00)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(-1.00, 0.85)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(2.50, 7.00)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7.08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(2.17, 6.02)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(6.00, 8.00)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4.31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(3.62, 6.35)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(8.00, 7.50)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4.53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9359265" y="5645785"/>
            <a:ext cx="262255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Without multi-hop mechnisim: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Average error: 2.81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3" name="图片 2" descr="localization_direct_20MHz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205" y="3649980"/>
            <a:ext cx="3543300" cy="3150870"/>
          </a:xfrm>
          <a:prstGeom prst="rect">
            <a:avLst/>
          </a:prstGeom>
        </p:spPr>
      </p:pic>
      <p:pic>
        <p:nvPicPr>
          <p:cNvPr id="5" name="图片 4" descr="localization_dnn_20MHz_sequenti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490855"/>
            <a:ext cx="3989070" cy="31915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65430" y="-233680"/>
            <a:ext cx="1026160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Simulation(DNN)</a:t>
            </a:r>
            <a:endParaRPr lang="en-US" altLang="zh-CN" sz="4000" dirty="0" err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697720" y="2378075"/>
            <a:ext cx="2622550" cy="7372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 multi-hop mechnisim(before optimization):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Average error: 0.40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32" name="表格 31"/>
          <p:cNvGraphicFramePr/>
          <p:nvPr/>
        </p:nvGraphicFramePr>
        <p:xfrm>
          <a:off x="4318635" y="719455"/>
          <a:ext cx="4480560" cy="251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405"/>
                <a:gridCol w="1128395"/>
                <a:gridCol w="1226185"/>
                <a:gridCol w="1171575"/>
              </a:tblGrid>
              <a:tr h="323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 Node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est_location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true_location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error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(2.70, 2.91)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(3.00, 3.00)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(1.91, 0.33)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(2.00, 0.00)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(7.30, 3.79)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(7.00, 4.00)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(2.54, 6.75)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(2.50, 7.00)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0.25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(5.33, 7.66)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(6.00, 8.00)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0.75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(8.28, 7.27)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(8.00, 7.50)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9697720" y="5516245"/>
            <a:ext cx="2622550" cy="7372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 multi-hop mechnisim(after optimization):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Average error: 0.27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318635" y="3735705"/>
          <a:ext cx="5454015" cy="251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550"/>
                <a:gridCol w="1110615"/>
                <a:gridCol w="1258570"/>
                <a:gridCol w="1136650"/>
                <a:gridCol w="976630"/>
              </a:tblGrid>
              <a:tr h="323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 Node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est_location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true_location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error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diff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(2.86, 2.68)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(3.00, 3.00)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0.35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-0.04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(1.96, 0.24)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(2.00, 0.00)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0.24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+0.10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(7.13, 4.07)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(7.00, 4.00)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0.15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+0.22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(2.37, 7.03)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(2.50, 7.00)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0.14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+0.12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(5.50, 8.04)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(6.00, 8.00)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0.50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+0.25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(7.78, 7.46)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(8.00, 7.50)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0.23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+0.13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图片 5" descr="localization_20MHz_sequenti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20" y="504825"/>
            <a:ext cx="3683000" cy="2946400"/>
          </a:xfrm>
          <a:prstGeom prst="rect">
            <a:avLst/>
          </a:prstGeom>
        </p:spPr>
      </p:pic>
      <p:pic>
        <p:nvPicPr>
          <p:cNvPr id="9" name="图片 8" descr="localization_dnn_20MHz_sequenti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490855"/>
            <a:ext cx="3783965" cy="3027680"/>
          </a:xfrm>
          <a:prstGeom prst="rect">
            <a:avLst/>
          </a:prstGeom>
        </p:spPr>
      </p:pic>
      <p:pic>
        <p:nvPicPr>
          <p:cNvPr id="10" name="图片 9" descr="localization_dnn_20MHz_optimiz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35" y="3524885"/>
            <a:ext cx="3874770" cy="31007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65430" y="-167640"/>
            <a:ext cx="1026160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Simulation(Transformer)</a:t>
            </a:r>
            <a:endParaRPr lang="en-US" altLang="zh-CN" sz="4000" dirty="0" err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124440" y="2334895"/>
            <a:ext cx="2009140" cy="9531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 multi-hop mechnisim(before </a:t>
            </a:r>
            <a:endParaRPr lang="en-US" altLang="zh-CN" sz="14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optimization):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Average error: 0.22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184765" y="5025390"/>
            <a:ext cx="2007235" cy="9531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Without multi-hop mechnisim(before </a:t>
            </a:r>
            <a:endParaRPr lang="en-US" altLang="zh-CN" sz="14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optimization):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Average error: 1.49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6" name="图片 5" descr="transformer_loc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560705"/>
            <a:ext cx="3813810" cy="3051810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/>
        </p:nvGraphicFramePr>
        <p:xfrm>
          <a:off x="4498340" y="827405"/>
          <a:ext cx="4480560" cy="251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405"/>
                <a:gridCol w="1128395"/>
                <a:gridCol w="1226185"/>
                <a:gridCol w="1171575"/>
              </a:tblGrid>
              <a:tr h="323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 Node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est_location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true_location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error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(2.95, 2.95)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(3.00, 3.00)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0.07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(1.72, -0.08)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(2.00, 0.00)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0.29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(7.03, 3.53)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(7.00, 4.00)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0.48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(2.45, 6.51)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(2.50, 7.00)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0.49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(5.30, 7.37)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(6.00, 8.00)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0.94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(7.71, 7.14)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(8.00, 7.50)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0.46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4479925" y="3797935"/>
          <a:ext cx="5518150" cy="251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440"/>
                <a:gridCol w="1139190"/>
                <a:gridCol w="1223010"/>
                <a:gridCol w="1137920"/>
                <a:gridCol w="1037590"/>
              </a:tblGrid>
              <a:tr h="323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 Node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est_location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true_location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error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diff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(2.91, 3.06)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(3.00, 3.00)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0.11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0.00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(1.68, 0.01)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(2.00, 0.00)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0.32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0.00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(7.11, 3.72)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(7.00, 4.00)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0.30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0.00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(-0.74, 0.81)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(2.50, 7.00)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6.99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-6.88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(5.51, 7.70)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(6.00, 8.00)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0.58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-0.13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(7.41, 7.28)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(8.00, 7.50)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0.63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-0.60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图片 2" descr="transformer_location_dir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612515"/>
            <a:ext cx="3224530" cy="28676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7" name="Title 2"/>
          <p:cNvSpPr txBox="1"/>
          <p:nvPr/>
        </p:nvSpPr>
        <p:spPr>
          <a:xfrm>
            <a:off x="265430" y="-167640"/>
            <a:ext cx="10261600" cy="108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 err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Simulation(Transformer)</a:t>
            </a:r>
            <a:endParaRPr lang="en-US" altLang="zh-CN" sz="4000" dirty="0" err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124440" y="2334895"/>
            <a:ext cx="2009140" cy="9531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 multi-hop mechnisim(before </a:t>
            </a:r>
            <a:endParaRPr lang="en-US" altLang="zh-CN" sz="14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optimization):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Average error: 0.22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184765" y="5025390"/>
            <a:ext cx="2007235" cy="9531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With multi-hop mechnisim(after </a:t>
            </a:r>
            <a:endParaRPr lang="en-US" altLang="zh-CN" sz="1400" b="1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400" b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optimization):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zh-CN" sz="1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Average error: 0.26</a:t>
            </a:r>
            <a:endParaRPr lang="en-US" altLang="zh-CN" sz="1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6" name="图片 5" descr="transformer_loc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0" y="560705"/>
            <a:ext cx="3813810" cy="3051810"/>
          </a:xfrm>
          <a:prstGeom prst="rect">
            <a:avLst/>
          </a:prstGeom>
        </p:spPr>
      </p:pic>
      <p:pic>
        <p:nvPicPr>
          <p:cNvPr id="8" name="图片 7" descr="transformer_location_o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3612515"/>
            <a:ext cx="3813810" cy="3050540"/>
          </a:xfrm>
          <a:prstGeom prst="rect">
            <a:avLst/>
          </a:prstGeom>
        </p:spPr>
      </p:pic>
      <p:graphicFrame>
        <p:nvGraphicFramePr>
          <p:cNvPr id="10" name="表格 9"/>
          <p:cNvGraphicFramePr/>
          <p:nvPr>
            <p:custDataLst>
              <p:tags r:id="rId3"/>
            </p:custDataLst>
          </p:nvPr>
        </p:nvGraphicFramePr>
        <p:xfrm>
          <a:off x="4479925" y="3797935"/>
          <a:ext cx="5566410" cy="251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165"/>
                <a:gridCol w="1170305"/>
                <a:gridCol w="1243330"/>
                <a:gridCol w="1149350"/>
                <a:gridCol w="1064260"/>
              </a:tblGrid>
              <a:tr h="323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 Node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est_location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true_location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error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diff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(2.94, 2.70)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(3.00, 3.00)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-0.14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(1.90, -0.09)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(2.00, 0.00)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0.13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+0.16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(6.86, 3.76)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(7.00, 4.00)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0.28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+0.20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(2.28, 6.74)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(2.50, 7.00)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0.34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+0.16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(5.48, 7.68)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(6.00, 8.00)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0.61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+0.33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(7.21, 7.30)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(8.00, 7.50)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0.82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-0.35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4498340" y="827405"/>
          <a:ext cx="4480560" cy="251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405"/>
                <a:gridCol w="1128395"/>
                <a:gridCol w="1226185"/>
                <a:gridCol w="1171575"/>
              </a:tblGrid>
              <a:tr h="323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 Node</a:t>
                      </a:r>
                      <a:endParaRPr lang="en-US" altLang="zh-CN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est_location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true_location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error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(2.95, 2.95)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(3.00, 3.00)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0.07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(1.72, -0.08)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(2.00, 0.00)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0.29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(7.03, 3.53)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(7.00, 4.00)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0.48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(2.45, 6.51)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(2.50, 7.00)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0.49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C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zh-CN" sz="1400">
                        <a:solidFill>
                          <a:srgbClr val="C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(5.30, 7.37)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(6.00, 8.00)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0.94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(7.71, 7.14)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(8.00, 7.50)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charset="0"/>
                          <a:cs typeface="Times New Roman" panose="02020603050405020304" charset="0"/>
                        </a:rPr>
                        <a:t>0.46</a:t>
                      </a:r>
                      <a:endParaRPr lang="en-US" altLang="zh-CN" sz="1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2334260" y="2143760"/>
            <a:ext cx="7523480" cy="9175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DD613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5400" b="1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Thank you for listening</a:t>
            </a:r>
            <a:r>
              <a:rPr lang="zh-CN" altLang="en-US" sz="5400" b="1" dirty="0">
                <a:latin typeface="Times New Roman" panose="02020603050405020304" charset="0"/>
                <a:ea typeface="Kaiti TC" panose="02010600040101010101" pitchFamily="2" charset="-120"/>
                <a:cs typeface="Times New Roman" panose="02020603050405020304" charset="0"/>
              </a:rPr>
              <a:t>！</a:t>
            </a:r>
            <a:endParaRPr lang="en-US" altLang="zh-CN" sz="5400" b="1" dirty="0">
              <a:latin typeface="Times New Roman" panose="02020603050405020304" charset="0"/>
              <a:ea typeface="Kaiti TC" panose="02010600040101010101" pitchFamily="2" charset="-12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DOCER_RESOURCE_TRACE_INFO" val="{&quot;id&quot;:&quot;50039990&quot;,&quot;origin&quot;:0,&quot;type&quot;:&quot;icons&quot;,&quot;user&quot;:&quot;310980984&quot;}"/>
</p:tagLst>
</file>

<file path=ppt/tags/tag16.xml><?xml version="1.0" encoding="utf-8"?>
<p:tagLst xmlns:p="http://schemas.openxmlformats.org/presentationml/2006/main">
  <p:tag name="KSO_DOCER_RESOURCE_TRACE_INFO" val="{&quot;id&quot;:&quot;21557347&quot;,&quot;origin&quot;:0,&quot;type&quot;:&quot;icons&quot;,&quot;user&quot;:&quot;310980984&quot;}"/>
</p:tagLst>
</file>

<file path=ppt/tags/tag17.xml><?xml version="1.0" encoding="utf-8"?>
<p:tagLst xmlns:p="http://schemas.openxmlformats.org/presentationml/2006/main">
  <p:tag name="KSO_DOCER_RESOURCE_TRACE_INFO" val="{&quot;id&quot;:&quot;21557347&quot;,&quot;origin&quot;:0,&quot;type&quot;:&quot;icons&quot;,&quot;user&quot;:&quot;310980984&quot;}"/>
</p:tagLst>
</file>

<file path=ppt/tags/tag18.xml><?xml version="1.0" encoding="utf-8"?>
<p:tagLst xmlns:p="http://schemas.openxmlformats.org/presentationml/2006/main">
  <p:tag name="KSO_DOCER_RESOURCE_TRACE_INFO" val="{&quot;id&quot;:&quot;21557347&quot;,&quot;origin&quot;:0,&quot;type&quot;:&quot;icons&quot;,&quot;user&quot;:&quot;310980984&quot;}"/>
</p:tagLst>
</file>

<file path=ppt/tags/tag19.xml><?xml version="1.0" encoding="utf-8"?>
<p:tagLst xmlns:p="http://schemas.openxmlformats.org/presentationml/2006/main">
  <p:tag name="TABLE_ENDDRAG_ORIGIN_RECT" val="518*158"/>
  <p:tag name="TABLE_ENDDRAG_RECT" val="367*115*518*158"/>
</p:tagLst>
</file>

<file path=ppt/tags/tag20.xml><?xml version="1.0" encoding="utf-8"?>
<p:tagLst xmlns:p="http://schemas.openxmlformats.org/presentationml/2006/main">
  <p:tag name="KSO_DOCER_RESOURCE_TRACE_INFO" val="{&quot;id&quot;:&quot;50039990&quot;,&quot;origin&quot;:0,&quot;type&quot;:&quot;icons&quot;,&quot;user&quot;:&quot;310980984&quot;}"/>
  <p:tag name="KSO_WM_DIAGRAM_VIRTUALLY_FRAME" val="{&quot;height&quot;:157.9,&quot;left&quot;:548.5,&quot;top&quot;:116.8,&quot;width&quot;:371.75}"/>
</p:tagLst>
</file>

<file path=ppt/tags/tag21.xml><?xml version="1.0" encoding="utf-8"?>
<p:tagLst xmlns:p="http://schemas.openxmlformats.org/presentationml/2006/main">
  <p:tag name="KSO_DOCER_RESOURCE_TRACE_INFO" val="{&quot;id&quot;:&quot;50013684&quot;,&quot;origin&quot;:0,&quot;type&quot;:&quot;icons&quot;,&quot;user&quot;:&quot;310980984&quot;}"/>
</p:tagLst>
</file>

<file path=ppt/tags/tag22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3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4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5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6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7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28.xml><?xml version="1.0" encoding="utf-8"?>
<p:tagLst xmlns:p="http://schemas.openxmlformats.org/presentationml/2006/main">
  <p:tag name="KSO_DOCER_RESOURCE_TRACE_INFO" val="{&quot;id&quot;:&quot;50013684&quot;,&quot;origin&quot;:0,&quot;type&quot;:&quot;icons&quot;,&quot;user&quot;:&quot;310980984&quot;}"/>
</p:tagLst>
</file>

<file path=ppt/tags/tag29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30.xml><?xml version="1.0" encoding="utf-8"?>
<p:tagLst xmlns:p="http://schemas.openxmlformats.org/presentationml/2006/main">
  <p:tag name="KSO_DOCER_RESOURCE_TRACE_INFO" val="{&quot;id&quot;:&quot;3643177&quot;,&quot;origin&quot;:0,&quot;type&quot;:&quot;icons&quot;,&quot;user&quot;:&quot;310980984&quot;}"/>
</p:tagLst>
</file>

<file path=ppt/tags/tag31.xml><?xml version="1.0" encoding="utf-8"?>
<p:tagLst xmlns:p="http://schemas.openxmlformats.org/presentationml/2006/main">
  <p:tag name="KSO_DOCER_RESOURCE_TRACE_INFO" val="{&quot;id&quot;:&quot;50039990&quot;,&quot;origin&quot;:0,&quot;type&quot;:&quot;icons&quot;,&quot;user&quot;:&quot;310980984&quot;}"/>
  <p:tag name="KSO_WM_DIAGRAM_VIRTUALLY_FRAME" val="{&quot;height&quot;:157.9,&quot;left&quot;:548.5,&quot;top&quot;:116.8,&quot;width&quot;:371.75}"/>
</p:tagLst>
</file>

<file path=ppt/tags/tag32.xml><?xml version="1.0" encoding="utf-8"?>
<p:tagLst xmlns:p="http://schemas.openxmlformats.org/presentationml/2006/main">
  <p:tag name="TABLE_ENDDRAG_ORIGIN_RECT" val="385*198"/>
  <p:tag name="TABLE_ENDDRAG_RECT" val="352*299*385*198"/>
</p:tagLst>
</file>

<file path=ppt/tags/tag33.xml><?xml version="1.0" encoding="utf-8"?>
<p:tagLst xmlns:p="http://schemas.openxmlformats.org/presentationml/2006/main">
  <p:tag name="TABLE_ENDDRAG_ORIGIN_RECT" val="438*234"/>
  <p:tag name="TABLE_ENDDRAG_RECT" val="354*284*438*234"/>
</p:tagLst>
</file>

<file path=ppt/tags/tag37.xml><?xml version="1.0" encoding="utf-8"?>
<p:tagLst xmlns:p="http://schemas.openxmlformats.org/presentationml/2006/main">
  <p:tag name="resource_record_key" val="{&quot;10&quot;:[50039990,21557347,50013684,3643177]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versionID="52650795bb867722c1cb32d5c9c9a2c6" ma:contentTypeID="0x01010045BC218961C25F459F6AA21946FFBB51" ma:contentTypeDescription="Create a new document." ct:_="" ma:_="" ma:contentTypeScope="" ma:contentTypeName="Document" ma:contentTypeVersion="14">
  <xsd:schema xmlns:xs="http://www.w3.org/2001/XMLSchema" xmlns:ns2="f89c64e8-111c-41f4-bded-6f6d958fe4b3" xmlns:ns3="9dd57d78-cec9-4cdd-9551-44c1fb237173" xmlns:xsd="http://www.w3.org/2001/XMLSchema" xmlns:p="http://schemas.microsoft.com/office/2006/metadata/properties" ma:root="true" ns3:_="" ma:fieldsID="56ffb0fdb1f4cdcf98c4b90ef3fdf45d" ns2:_="" targetNamespace="http://schemas.microsoft.com/office/2006/metadata/properties">
    <xsd:import namespace="f89c64e8-111c-41f4-bded-6f6d958fe4b3"/>
    <xsd:import namespace="9dd57d78-cec9-4cdd-9551-44c1fb237173"/>
    <xsd:element name="properties">
      <xsd:complexType>
        <xsd:sequence>
          <xsd:element name="documentManagement">
            <xsd:complexType>
              <xsd:all>
                <xsd:element minOccurs="0" ref="ns2:MediaServiceMetadata"/>
                <xsd:element minOccurs="0" ref="ns2:MediaServiceFastMetadata"/>
                <xsd:element minOccurs="0" ref="ns2:MediaServiceDateTaken"/>
                <xsd:element minOccurs="0" ref="ns2:MediaServiceAutoTags"/>
                <xsd:element minOccurs="0" ref="ns2:MediaServiceGenerationTime"/>
                <xsd:element minOccurs="0" ref="ns2:MediaServiceEventHashCode"/>
                <xsd:element minOccurs="0" ref="ns2:MediaServiceOCR"/>
                <xsd:element minOccurs="0" ref="ns2:MediaLengthInSeconds"/>
                <xsd:element minOccurs="0" ref="ns2:MediaServiceAutoKeyPoints"/>
                <xsd:element minOccurs="0" ref="ns2:MediaServiceKeyPoints"/>
                <xsd:element minOccurs="0" ref="ns2:lcf76f155ced4ddcb4097134ff3c332f"/>
                <xsd:element minOccurs="0" ref="ns3:TaxCatchAll"/>
                <xsd:element minOccurs="0" ref="ns2:MediaServiceLocation"/>
              </xsd:all>
            </xsd:complexType>
          </xsd:element>
        </xsd:sequence>
      </xsd:complexType>
    </xsd:element>
  </xsd:schema>
  <xsd:schema xmlns:dms="http://schemas.microsoft.com/office/2006/documentManagement/types" xmlns:xs="http://www.w3.org/2001/XMLSchema" xmlns:pc="http://schemas.microsoft.com/office/infopath/2007/PartnerControls" xmlns:xsd="http://www.w3.org/2001/XMLSchema" targetNamespace="f89c64e8-111c-41f4-bded-6f6d958fe4b3" elementFormDefault="qualified">
    <xsd:import namespace="http://schemas.microsoft.com/office/2006/documentManagement/types"/>
    <xsd:import namespace="http://schemas.microsoft.com/office/infopath/2007/PartnerControls"/>
    <xsd:element ma:displayName="MediaServiceMetadata" ma:readOnly="true" ma:internalName="MediaServiceMetadata" name="MediaServiceMetadata" nillable="true" ma:hidden="true" ma:index="8">
      <xsd:simpleType>
        <xsd:restriction base="dms:Note"/>
      </xsd:simpleType>
    </xsd:element>
    <xsd:element ma:displayName="MediaServiceFastMetadata" ma:readOnly="true" ma:internalName="MediaServiceFastMetadata" name="MediaServiceFastMetadata" nillable="true" ma:hidden="true" ma:index="9">
      <xsd:simpleType>
        <xsd:restriction base="dms:Note"/>
      </xsd:simpleType>
    </xsd:element>
    <xsd:element ma:displayName="MediaServiceDateTaken" ma:readOnly="true" ma:internalName="MediaServiceDateTaken" name="MediaServiceDateTaken" nillable="true" ma:hidden="true" ma:index="10">
      <xsd:simpleType>
        <xsd:restriction base="dms:Text"/>
      </xsd:simpleType>
    </xsd:element>
    <xsd:element ma:displayName="Tags" ma:readOnly="true" ma:internalName="MediaServiceAutoTags" name="MediaServiceAutoTags" nillable="true" ma:index="11">
      <xsd:simpleType>
        <xsd:restriction base="dms:Text"/>
      </xsd:simpleType>
    </xsd:element>
    <xsd:element ma:displayName="MediaServiceGenerationTime" ma:readOnly="true" ma:internalName="MediaServiceGenerationTime" name="MediaServiceGenerationTime" nillable="true" ma:hidden="true" ma:index="12">
      <xsd:simpleType>
        <xsd:restriction base="dms:Text"/>
      </xsd:simpleType>
    </xsd:element>
    <xsd:element ma:displayName="MediaServiceEventHashCode" ma:readOnly="true" ma:internalName="MediaServiceEventHashCode" name="MediaServiceEventHashCode" nillable="true" ma:hidden="true" ma:index="13">
      <xsd:simpleType>
        <xsd:restriction base="dms:Text"/>
      </xsd:simpleType>
    </xsd:element>
    <xsd:element ma:displayName="Extracted Text" ma:readOnly="true" ma:internalName="MediaServiceOCR" name="MediaServiceOCR" nillable="true" ma:index="14">
      <xsd:simpleType>
        <xsd:restriction base="dms:Note">
          <xsd:maxLength value="255"/>
        </xsd:restriction>
      </xsd:simpleType>
    </xsd:element>
    <xsd:element ma:displayName="MediaLengthInSeconds" ma:readOnly="true" ma:internalName="MediaLengthInSeconds" name="MediaLengthInSeconds" nillable="true" ma:hidden="true" ma:index="15">
      <xsd:simpleType>
        <xsd:restriction base="dms:Unknown"/>
      </xsd:simpleType>
    </xsd:element>
    <xsd:element ma:displayName="MediaServiceAutoKeyPoints" ma:readOnly="true" ma:internalName="MediaServiceAutoKeyPoints" name="MediaServiceAutoKeyPoints" nillable="true" ma:hidden="true" ma:index="16">
      <xsd:simpleType>
        <xsd:restriction base="dms:Note"/>
      </xsd:simpleType>
    </xsd:element>
    <xsd:element ma:displayName="KeyPoints" ma:readOnly="true" ma:internalName="MediaServiceKeyPoints" name="MediaServiceKeyPoints" nillable="true" ma:index="17">
      <xsd:simpleType>
        <xsd:restriction base="dms:Note">
          <xsd:maxLength value="255"/>
        </xsd:restriction>
      </xsd:simpleType>
    </xsd:element>
    <xsd:element ma:fieldId="{5cf76f15-5ced-4ddc-b409-7134ff3c332f}" ma:taxonomyFieldName="MediaServiceImageTags" ma:anchorId="fba54fb3-c3e1-fe81-a776-ca4b69148c4d" ma:displayName="Image Tags" ma:readOnly="false" ma:isKeyword="false" ma:internalName="lcf76f155ced4ddcb4097134ff3c332f" name="lcf76f155ced4ddcb4097134ff3c332f" ma:taxonomyMulti="true" ma:taxonomy="true" ma:termSetId="09814cd3-568e-fe90-9814-8d621ff8fb84" nillable="true" ma:sspId="e0ba400c-d543-4c24-b70c-40427e126fd3" ma:open="true" ma:index="19">
      <xsd:complexType>
        <xsd:sequence>
          <xsd:element minOccurs="0" ref="pc:Terms" maxOccurs="1"/>
        </xsd:sequence>
      </xsd:complexType>
    </xsd:element>
    <xsd:element ma:displayName="Location" ma:readOnly="true" ma:internalName="MediaServiceLocation" name="MediaServiceLocation" nillable="true" ma:index="21">
      <xsd:simpleType>
        <xsd:restriction base="dms:Text"/>
      </xsd:simpleType>
    </xsd:element>
  </xsd:schema>
  <xsd:schema xmlns:dms="http://schemas.microsoft.com/office/2006/documentManagement/types" xmlns:xs="http://www.w3.org/2001/XMLSchema" xmlns:pc="http://schemas.microsoft.com/office/infopath/2007/PartnerControls" xmlns:xsd="http://www.w3.org/2001/XMLSchema" targetNamespace="9dd57d78-cec9-4cdd-9551-44c1fb237173" elementFormDefault="qualified">
    <xsd:import namespace="http://schemas.microsoft.com/office/2006/documentManagement/types"/>
    <xsd:import namespace="http://schemas.microsoft.com/office/infopath/2007/PartnerControls"/>
    <xsd:element ma:showField="CatchAllData" ma:displayName="Taxonomy Catch All Column" ma:internalName="TaxCatchAll" name="TaxCatchAll" ma:web="9dd57d78-cec9-4cdd-9551-44c1fb237173" nillable="true" ma:hidden="true" ma:list="{92a9e3ce-7aaf-4768-9995-86e3f1f98a48}" ma:index="20">
      <xsd:complexType>
        <xsd:complexContent>
          <xsd:extension base="dms:MultiChoiceLookup">
            <xsd:sequence>
              <xsd:element type="dms:Lookup" minOccurs="0" name="Value" nillable="true" maxOccurs="unbounded"/>
            </xsd:sequence>
          </xsd:extension>
        </xsd:complexContent>
      </xsd:complexType>
    </xsd:element>
  </xsd:schema>
  <xsd:schema xmlns:xsi="http://www.w3.org/2001/XMLSchema-instance" xmlns:dcterms="http://purl.org/dc/terms/" xmlns:odoc="http://schemas.microsoft.com/internal/obd" xmlns="http://schemas.openxmlformats.org/package/2006/metadata/core-properties" xmlns:xsd="http://www.w3.org/2001/XMLSchema" xmlns:dc="http://purl.org/dc/elements/1.1/" attributeFormDefault="unqualified" blockDefault="#all" targetNamespace="http://schemas.openxmlformats.org/package/2006/metadata/core-properties" elementFormDefault="qualified">
    <xsd:import schemaLocation="http://dublincore.org/schemas/xmls/qdc/2003/04/02/dc.xsd" namespace="http://purl.org/dc/elements/1.1/"/>
    <xsd:import schemaLocation="http://dublincore.org/schemas/xmls/qdc/2003/04/02/dcterms.xsd" namespace="http://purl.org/dc/terms/"/>
    <xsd:element type="CT_coreProperties" name="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type="xsd:string" minOccurs="0" ma:displayName="Content Type" name="contentType" ma:index="0" maxOccurs="1"/>
        <xsd:element minOccurs="0" ref="dc:title" ma:displayName="Title" ma:index="4" maxOccurs="1"/>
        <xsd:element minOccurs="0" ref="dc:subject" maxOccurs="1"/>
        <xsd:element minOccurs="0" ref="dc:description" maxOccurs="1"/>
        <xsd:element type="xsd:string" minOccurs="0" name="keywords" maxOccurs="1"/>
        <xsd:element minOccurs="0" ref="dc:language" maxOccurs="1"/>
        <xsd:element type="xsd:string" minOccurs="0" name="category" maxOccurs="1"/>
        <xsd:element type="xsd:string" minOccurs="0" name="version" maxOccurs="1"/>
        <xsd:element type="xsd:string" minOccurs="0" name="revision" maxOccurs="1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type="xsd:string" minOccurs="0" name="lastModifiedBy" maxOccurs="1"/>
        <xsd:element minOccurs="0" ref="dcterms:modified" maxOccurs="1"/>
        <xsd:element type="xsd:string" minOccurs="0" name="contentStatus" maxOccurs="1"/>
      </xsd:all>
    </xsd:complexType>
  </xsd:schema>
  <xs:schema xmlns:xs="http://www.w3.org/2001/XMLSchema" xmlns:pc="http://schemas.microsoft.com/office/infopath/2007/PartnerControls" attributeFormDefault="unqualified" targetNamespace="http://schemas.microsoft.com/office/infopath/2007/PartnerControls" elementFormDefault="qualified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type="xs:string" name="TermName"/>
    <xs:element type="xs:string" name="TermId"/>
  </xs:schema>
</ct:contentTypeSchema>
</file>

<file path=customXml/item2.xml><?xml version="1.0" encoding="utf-8"?>
<p:properties xmlns:xsi="http://www.w3.org/2001/XMLSchema-instance" xmlns:pc="http://schemas.microsoft.com/office/infopath/2007/PartnerControls" xmlns:p="http://schemas.microsoft.com/office/2006/metadata/properties">
  <documentManagement>
    <MediaLengthInSeconds xmlns="f89c64e8-111c-41f4-bded-6f6d958fe4b3" xsi:nil="true"/>
    <lcf76f155ced4ddcb4097134ff3c332f xmlns="f89c64e8-111c-41f4-bded-6f6d958fe4b3">
      <Terms xmlns="http://schemas.microsoft.com/office/infopath/2007/PartnerControls"/>
    </lcf76f155ced4ddcb4097134ff3c332f>
    <TaxCatchAll xmlns="9dd57d78-cec9-4cdd-9551-44c1fb23717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4.xml><?xml version="1.0" encoding="utf-8"?>
<ds:datastoreItem xmlns:ds="http://schemas.openxmlformats.org/officeDocument/2006/customXml" ds:itemID="{FAF196E8-F5B0-48C6-818B-9DED3B3F4B9F}">
  <ds:schemaRefs/>
</ds:datastoreItem>
</file>

<file path=customXml/itemProps35.xml><?xml version="1.0" encoding="utf-8"?>
<ds:datastoreItem xmlns:ds="http://schemas.openxmlformats.org/officeDocument/2006/customXml" ds:itemID="{5A95CB02-FDAC-45C3-9CB4-7E4403C86BD8}">
  <ds:schemaRefs/>
</ds:datastoreItem>
</file>

<file path=customXml/itemProps36.xml><?xml version="1.0" encoding="utf-8"?>
<ds:datastoreItem xmlns:ds="http://schemas.openxmlformats.org/officeDocument/2006/customXml" ds:itemID="{8B561345-5481-4888-8BC1-875739BC27F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6180</Words>
  <Application>WPS 演示</Application>
  <PresentationFormat>Breitbild</PresentationFormat>
  <Paragraphs>733</Paragraphs>
  <Slides>13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24</vt:i4>
      </vt:variant>
      <vt:variant>
        <vt:lpstr>幻灯片标题</vt:lpstr>
      </vt:variant>
      <vt:variant>
        <vt:i4>13</vt:i4>
      </vt:variant>
    </vt:vector>
  </HeadingPairs>
  <TitlesOfParts>
    <vt:vector size="60" baseType="lpstr">
      <vt:lpstr>Arial</vt:lpstr>
      <vt:lpstr>宋体</vt:lpstr>
      <vt:lpstr>Wingdings</vt:lpstr>
      <vt:lpstr>Times New Roman Regular</vt:lpstr>
      <vt:lpstr>Times New Roman</vt:lpstr>
      <vt:lpstr>Kaiti TC</vt:lpstr>
      <vt:lpstr>Microsoft JhengHei UI</vt:lpstr>
      <vt:lpstr>微软雅黑</vt:lpstr>
      <vt:lpstr>Wingdings</vt:lpstr>
      <vt:lpstr>NimbusRomNo9L-Medi</vt:lpstr>
      <vt:lpstr>Segoe Print</vt:lpstr>
      <vt:lpstr>Times New Roman</vt:lpstr>
      <vt:lpstr>Calibri</vt:lpstr>
      <vt:lpstr>Arial Unicode MS</vt:lpstr>
      <vt:lpstr>等线</vt:lpstr>
      <vt:lpstr>Calibri Light</vt:lpstr>
      <vt:lpstr>等线 Light</vt:lpstr>
      <vt:lpstr>PMingLiU</vt:lpstr>
      <vt:lpstr>Kaiti TC</vt:lpstr>
      <vt:lpstr>NimbusRomNo9L-Medi</vt:lpstr>
      <vt:lpstr>DFHSMincho-W9</vt:lpstr>
      <vt:lpstr>自定义设计方案</vt:lpstr>
      <vt:lpstr>Office Theme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Multihop Sidelink In-door Location Using Wi-Fi CSI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Raven Xiao (HRO)</dc:creator>
  <cp:lastModifiedBy>あ</cp:lastModifiedBy>
  <cp:revision>1123</cp:revision>
  <cp:lastPrinted>2026-05-22T04:58:00Z</cp:lastPrinted>
  <dcterms:created xsi:type="dcterms:W3CDTF">2026-05-22T04:58:00Z</dcterms:created>
  <dcterms:modified xsi:type="dcterms:W3CDTF">2026-08-11T09:18:02Z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0x01010045BC218961C25F459F6AA21946FFBB51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MediaServiceImageTags">
    <vt:lpwstr/>
  </property>
  <property fmtid="{D5CDD505-2E9C-101B-9397-08002B2CF9AE}" pid="7" name="ICV">
    <vt:lpwstr>9F889B56FD50491A8DF0563737FEA272_13</vt:lpwstr>
  </property>
  <property fmtid="{D5CDD505-2E9C-101B-9397-08002B2CF9AE}" pid="8" name="KSOProductBuildVer">
    <vt:lpwstr>2052-12.1.0.28043</vt:lpwstr>
  </property>
</Properties>
</file>